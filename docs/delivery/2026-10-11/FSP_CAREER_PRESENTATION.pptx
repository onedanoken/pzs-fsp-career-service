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132bea1bc54685" /><Relationship Type="http://schemas.openxmlformats.org/officeDocument/2006/relationships/extended-properties" Target="/docProps/app.xml" Id="R7b3f91930ad64e64" /><Relationship Type="http://schemas.openxmlformats.org/officeDocument/2006/relationships/officeDocument" Target="/ppt/presentation.xml" Id="R94a2505175f44484" 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embedTrueTypeFonts="1" saveSubsetFonts="1">
  <p:sldMasterIdLst>
    <p:sldMasterId id="2147483648" r:id="Rf0baa444084c4a73"/>
  </p:sldMasterIdLst>
  <p:notesMasterIdLst>
    <p:notesMasterId r:id="R3ce24cc78739474b"/>
  </p:notesMasterIdLst>
  <p:sldIdLst>
    <p:sldId id="256" r:id="Ra5434d18efe245cc"/>
    <p:sldId id="257" r:id="Raa402681b28a4779"/>
    <p:sldId id="258" r:id="Ra395b82005644f8a"/>
    <p:sldId id="259" r:id="R16a985e002194854"/>
    <p:sldId id="260" r:id="R01abf028464d442d"/>
    <p:sldId id="261" r:id="R966ebb5117bf4f64"/>
    <p:sldId id="262" r:id="R4c2912ecf7104ebf"/>
    <p:sldId id="263" r:id="R6fd47143ecb34cfd"/>
    <p:sldId id="264" r:id="Rb9b7cecee818478c"/>
    <p:sldId id="265" r:id="R5f107fd2bab340b5"/>
    <p:sldId id="266" r:id="Raf1d16ea78104301"/>
    <p:sldId id="267" r:id="R3d13be74a83e4683"/>
    <p:sldId id="268" r:id="R3d37eff6781e4e08"/>
    <p:sldId id="269" r:id="Rdf62bb002a4048b9"/>
    <p:sldId id="270" r:id="Ra92fe3c80b4847cf"/>
  </p:sldIdLst>
  <p:sldSz cx="12192000" cy="6858000"/>
  <p:notesSz cx="6858000" cy="9144000"/>
  <p:defaultTextStyle>
    <ns2:defPPr>
      <ns2:buNone/>
    </ns2:defPPr>
    <ns2:lvl1pPr marL="0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1pPr>
    <ns2:lvl2pPr marL="457110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2pPr>
    <ns2:lvl3pPr marL="914220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3pPr>
    <ns2:lvl4pPr marL="1371329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4pPr>
    <ns2:lvl5pPr marL="1828439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5pPr>
    <ns2:lvl6pPr marL="2285549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6pPr>
    <ns2:lvl7pPr marL="2742658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7pPr>
    <ns2:lvl8pPr marL="3199765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8pPr>
    <ns2:lvl9pPr marL="3656877" algn="l" defTabSz="914220">
      <ns2:buNone/>
      <ns2:defRPr sz="1800" kern="1200">
        <ns2:solidFill>
          <ns2:schemeClr val="tx1"/>
        </ns2:solidFill>
        <ns2:latin typeface="+mn-lt"/>
        <ns2:ea typeface="+mn-lt"/>
        <ns2:cs typeface="+mn-lt"/>
      </ns2:defRPr>
    </ns2:lvl9pPr>
  </p:defaultTextStyle>
  <p:embeddedFontLst>
    <p:embeddedFont>
      <p:font typeface="Montserrat" pitchFamily="2" charset="-52"/>
      <p:regular r:id="rIdFspFinalFont0"/>
      <p:bold r:id="rIdFspFinalFont1"/>
    </p:embeddedFont>
    <p:embeddedFont>
      <p:font typeface="Calibri" panose="020F0502020204030204" pitchFamily="34" charset="0"/>
      <p:regular r:id="rIdFspFinalFont2"/>
      <p:bold r:id="rIdFspFinalFont3"/>
      <p:italic r:id="rIdFspFinalFont4"/>
      <p:boldItalic r:id="rIdFspFinalFont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114333bb12bf4477" /><ns0:Relationship Type="http://schemas.openxmlformats.org/officeDocument/2006/relationships/slideMaster" Target="/ppt/slideMasters/slideMaster1.xml" Id="Rf0baa444084c4a73" /><ns0:Relationship Type="http://schemas.openxmlformats.org/officeDocument/2006/relationships/notesMaster" Target="/ppt/notesMasters/notesMaster1.xml" Id="R3ce24cc78739474b" /><ns0:Relationship Type="http://schemas.openxmlformats.org/officeDocument/2006/relationships/presProps" Target="/ppt/presProps.xml" Id="R068e433ea78045f5" /><ns0:Relationship Type="http://schemas.openxmlformats.org/officeDocument/2006/relationships/viewProps" Target="/ppt/viewProps.xml" Id="R2985d6f0fcb74558" /><ns0:Relationship Type="http://schemas.openxmlformats.org/officeDocument/2006/relationships/tableStyles" Target="/ppt/tableStyles.xml" Id="Rfce71dff20cd4c06" /><ns0:Relationship Type="http://schemas.openxmlformats.org/officeDocument/2006/relationships/font" Target="/ppt/fonts/font.dat" Id="Rb8003b91b24e4993" /><ns0:Relationship Type="http://schemas.openxmlformats.org/officeDocument/2006/relationships/font" Target="/ppt/fonts/font2.dat" Id="Rc4eb742226f9450f" /><ns0:Relationship Type="http://schemas.openxmlformats.org/officeDocument/2006/relationships/font" Target="/ppt/fonts/font3.dat" Id="Rafc06f031db249a1" /><ns0:Relationship Type="http://schemas.openxmlformats.org/officeDocument/2006/relationships/font" Target="/ppt/fonts/font4.dat" Id="Re7bac52834364018" /><ns0:Relationship Type="http://schemas.openxmlformats.org/officeDocument/2006/relationships/font" Target="/ppt/fonts/font5.dat" Id="R1609bc45c93240ea" /><ns0:Relationship Type="http://schemas.openxmlformats.org/officeDocument/2006/relationships/font" Target="/ppt/fonts/font6.dat" Id="Rf587e0344ba1473c" /><ns0:Relationship Type="http://schemas.openxmlformats.org/officeDocument/2006/relationships/slide" Target="/ppt/slides/slide1.xml" Id="Ra5434d18efe245cc" /><ns0:Relationship Type="http://schemas.openxmlformats.org/officeDocument/2006/relationships/slide" Target="/ppt/slides/slide2.xml" Id="Raa402681b28a4779" /><ns0:Relationship Type="http://schemas.openxmlformats.org/officeDocument/2006/relationships/slide" Target="/ppt/slides/slide3.xml" Id="Ra395b82005644f8a" /><ns0:Relationship Type="http://schemas.openxmlformats.org/officeDocument/2006/relationships/slide" Target="/ppt/slides/slide4.xml" Id="R16a985e002194854" /><ns0:Relationship Type="http://schemas.openxmlformats.org/officeDocument/2006/relationships/slide" Target="/ppt/slides/slide5.xml" Id="R01abf028464d442d" /><ns0:Relationship Type="http://schemas.openxmlformats.org/officeDocument/2006/relationships/slide" Target="/ppt/slides/slide6.xml" Id="R966ebb5117bf4f64" /><ns0:Relationship Type="http://schemas.openxmlformats.org/officeDocument/2006/relationships/slide" Target="/ppt/slides/slide7.xml" Id="R4c2912ecf7104ebf" /><ns0:Relationship Type="http://schemas.openxmlformats.org/officeDocument/2006/relationships/slide" Target="/ppt/slides/slide8.xml" Id="R6fd47143ecb34cfd" /><ns0:Relationship Type="http://schemas.openxmlformats.org/officeDocument/2006/relationships/slide" Target="/ppt/slides/slide9.xml" Id="Rb9b7cecee818478c" /><ns0:Relationship Type="http://schemas.openxmlformats.org/officeDocument/2006/relationships/slide" Target="/ppt/slides/slide10.xml" Id="R5f107fd2bab340b5" /><ns0:Relationship Type="http://schemas.openxmlformats.org/officeDocument/2006/relationships/slide" Target="/ppt/slides/slide11.xml" Id="Raf1d16ea78104301" /><ns0:Relationship Type="http://schemas.openxmlformats.org/officeDocument/2006/relationships/slide" Target="/ppt/slides/slide12.xml" Id="R3d13be74a83e4683" /><ns0:Relationship Type="http://schemas.openxmlformats.org/officeDocument/2006/relationships/slide" Target="/ppt/slides/slide13.xml" Id="R3d37eff6781e4e08" /><ns0:Relationship Type="http://schemas.openxmlformats.org/officeDocument/2006/relationships/slide" Target="/ppt/slides/slide14.xml" Id="Rdf62bb002a4048b9" /><ns0:Relationship Type="http://schemas.openxmlformats.org/officeDocument/2006/relationships/slide" Target="/ppt/slides/slide15.xml" Id="Ra92fe3c80b4847cf" /><ns0:Relationship Id="rIdFspFinalFont0" Type="http://schemas.openxmlformats.org/officeDocument/2006/relationships/font" Target="fonts/fsp-final-fsp-peer-font1.fntdata" /><ns0:Relationship Id="rIdFspFinalFont1" Type="http://schemas.openxmlformats.org/officeDocument/2006/relationships/font" Target="fonts/fsp-final-fsp-peer-font2.fntdata" /><ns0:Relationship Id="rIdFspFinalFont2" Type="http://schemas.openxmlformats.org/officeDocument/2006/relationships/font" Target="fonts/fsp-final-fsp-peer-font3.fntdata" /><ns0:Relationship Id="rIdFspFinalFont3" Type="http://schemas.openxmlformats.org/officeDocument/2006/relationships/font" Target="fonts/fsp-final-fsp-peer-font4.fntdata" /><ns0:Relationship Id="rIdFspFinalFont4" Type="http://schemas.openxmlformats.org/officeDocument/2006/relationships/font" Target="fonts/fsp-final-fsp-peer-font5.fntdata" /><ns0:Relationship Id="rIdFspFinalFont5" Type="http://schemas.openxmlformats.org/officeDocument/2006/relationships/font" Target="fonts/fsp-final-fsp-peer-font6.fntdata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a3b7a7a8b0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e56bc640c64b01" /><Relationship Type="http://schemas.openxmlformats.org/officeDocument/2006/relationships/notesMaster" Target="/ppt/notesMasters/notesMaster1.xml" Id="R9d652d4fc347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bbf69c0fd43d8" /><Relationship Type="http://schemas.openxmlformats.org/officeDocument/2006/relationships/notesMaster" Target="/ppt/notesMasters/notesMaster1.xml" Id="Rb0698af9384e4c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50cc371af74457" /><Relationship Type="http://schemas.openxmlformats.org/officeDocument/2006/relationships/notesMaster" Target="/ppt/notesMasters/notesMaster1.xml" Id="Re37b2219443a4e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53f1dde564301" /><Relationship Type="http://schemas.openxmlformats.org/officeDocument/2006/relationships/notesMaster" Target="/ppt/notesMasters/notesMaster1.xml" Id="Rd2654cca964f4b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590d1ff2ec4672" /><Relationship Type="http://schemas.openxmlformats.org/officeDocument/2006/relationships/notesMaster" Target="/ppt/notesMasters/notesMaster1.xml" Id="R741db3ba722344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83b0e8a0af4fe5" /><Relationship Type="http://schemas.openxmlformats.org/officeDocument/2006/relationships/notesMaster" Target="/ppt/notesMasters/notesMaster1.xml" Id="Rca3f331f48e2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389b00944444b2" /><Relationship Type="http://schemas.openxmlformats.org/officeDocument/2006/relationships/notesMaster" Target="/ppt/notesMasters/notesMaster1.xml" Id="R47fd8ca9d41740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fd56d298cb4b3a" /><Relationship Type="http://schemas.openxmlformats.org/officeDocument/2006/relationships/notesMaster" Target="/ppt/notesMasters/notesMaster1.xml" Id="R175f3e412be04e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db243c71cd4e42" /><Relationship Type="http://schemas.openxmlformats.org/officeDocument/2006/relationships/notesMaster" Target="/ppt/notesMasters/notesMaster1.xml" Id="R99f42e62e9424d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6a90d591ad4b37" /><Relationship Type="http://schemas.openxmlformats.org/officeDocument/2006/relationships/notesMaster" Target="/ppt/notesMasters/notesMaster1.xml" Id="R19018467a3b149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0146b29a5f4725" /><Relationship Type="http://schemas.openxmlformats.org/officeDocument/2006/relationships/notesMaster" Target="/ppt/notesMasters/notesMaster1.xml" Id="R9ec2a0a812c741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791bc0bf4e494d" /><Relationship Type="http://schemas.openxmlformats.org/officeDocument/2006/relationships/notesMaster" Target="/ppt/notesMasters/notesMaster1.xml" Id="R0aa11d5930ba42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95d3d1b059443a" /><Relationship Type="http://schemas.openxmlformats.org/officeDocument/2006/relationships/notesMaster" Target="/ppt/notesMasters/notesMaster1.xml" Id="Ra5a02ac7d26e40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31e669359d4ba9" /><Relationship Type="http://schemas.openxmlformats.org/officeDocument/2006/relationships/notesMaster" Target="/ppt/notesMasters/notesMaster1.xml" Id="R4dcbcc3fb12648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e61698c87e4a5c" /><Relationship Type="http://schemas.openxmlformats.org/officeDocument/2006/relationships/notesMaster" Target="/ppt/notesMasters/notesMaster1.xml" Id="R6fbc5fc7e700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Пермский звериный стиль, Пермь. Два участника. Георгий Покумин — капитан, ML и задания; Иван Урбанович — разработка и аналитика. ФСП Карьера связывает результат практической проверки с объяснимым подбором и адресным приглашением с зарплатой.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Георгий Покумин — капитан команды, ML и задания. Иван Урбанович — разработка и аналитика. Оба участника из Перми.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Четыре технических и четыре продуктовых свойства работающего прототипа. Варианты собираются по квотам компетенций. Аттестация включает 9 вопросов, исходный рабочий кейс и перенос в изменённое условие. Приглашение содержит конкретную зарплату и не требует предварительного отклика кандидата или публикации вакансии. Контакты получает только пригласившая организация после принятия; передача в ATS требует отдельного согласия. Технические и синтетические проверки не являются пилотом на людях; партнёрские подключения представлены протокольными моками.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Работающий бизнес-путь API 0.16.0: кандидат регистрируется, заполняет профиль, выбирает направление и режим, проходит 9 объективных заданий и оба обязательных рабочих этапа. При успехе аттестации возникает предварительная категория; тренировка и неуспех не понижают имеющуюся. Работодатель проходит проверку, задаёт запрос и приглашает без обязательной вакансии с конкретной зарплатой и следующим шагом. Принятие открывает контакты только пригласившей организации. Отклонение или уточнение контакты не раскрывают. ATS-согласие отдельное. Источники: docs/ASSESSMENT_POLICY.md, docs/MATCHING_V2.md, docs/CAREER_FLOW.md, docs/ATS_API.md и backend/contact_policy.py.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Интерфейс API 0.16.0 на синтетических данных обычных учётных записей. Кандидат заполняет профиль, проходит проверку и получает паспорт. Работодатель видит подбор с причинами и приглашает с зарплатой без обязательного отклика кандидата. Контакты раскрываются только пригласившей организации после принятия. Источники: docs/CAREER_FLOW.md, docs/MATCHING_V2.md,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Аттестация API 0.16.0: 9 вопросов, три на каждую область; средний результат не ниже 70%, каждая область не ниже 50%, все проверки исходного рабочего кейса и переноса обязательны. Тренировка и неуспех сохраняют предыдущую категорию. Проверка использует эталон команды и отдельную реализацию ожидаемого результата, а не внешнее экспертное заключение. Скриншот относится к техническому проверочному набору. Источники: docs/ASSESSMENT_POLICY.md, docs/ASSESSMENT_V3.md.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сборок 0.15 и 0.16: 960 форм, по 20 форм для каждого из 24 сочетаний в каждой сборке. Доля точных повторов условия и эталона уменьшилась с 67.23% до 52.88%. Метод: scripts/measure_form_content.py; сводка docs/VERIFICATION.md. Измеряется содержание выдачи. Эти результаты не доказывают одинаковую сложность вариантов на людях; конечный банк можно выучить.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Модельное сравнение правил для 9 и 12 вопросов при заданных независимых вероятностях ответа и успеха рабочего кейса. Проверены все 512 и 4096 комбинаций ответов, всего 4608, через функцию присвоения категории. В модели 12 вопросов чаще допускают профиль с одной слабой областью и дают больше расхождений у пограничного профиля. Сохраняются 9 вопросов. Это синтетический опыт, а не калибровка квалификации людей. Источники: scripts/measure_assessment_policy.py, docs/ASSESSMENT_POLICY.md,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веса из backend/evidence_ranking.py и docs/MATCHING_V2.md: результат 55, известные технологии 20, доказательства 20, свежесть 3, индивидуальные достижения ФСП до 2. Наличие истории ФСП не обязательно. Самоописание может участвовать в совпадении технологий, но не доказывает навык и не даёт категорию. Проверка источника получает вес 0.75, тестового наблюдения 1 с инженерным снижением давности. Соседний грейд допускается только явным фильтром, штраф 8. Каждый неизвестный фактор даёт штраф 2. Явный конфликт или отсутствие допуска исключает кандидата до скоринга. Отозванные, повреждённые и явно истёкшие подтверждения не используются. Даты и полнота доказательств не являются психометрической калибровкой.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Историческое сравнение формул подбора v1 и v2 на 360 отложенных синтетических сценариях с авторской разметкой. Семейства настройки и оценки разделены. nDCG@3: 0.5634 → 0.9225; Precision@3: 0.6000 → 0.8852; запрещённых выдач 0. Формула v2 в выпуске 0.16 не перенастраивалась; график описывает прежнее сравнение этой формулы, а не новое улучшение качества. Фактический найм не измерялся. Источники: ranking.json, docs/MATCHING_V2.md, docs/VERIFICATION.md. График находится на слайде 12 итоговой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Обмен с ATS: отдельное адресное согласие кандидата, ключ работодателя с ограниченными правами, экспорт разрешённых полей, обновление этапа, повтор с тем же ключом идемпотентности без новой копии, отзыв, удаление копии на стороне эталонного адаптера, явное подтверждение удаления (ack). Отсутствие ack остаётся видимым незавершённым отзывом и не объявляется успешным удалением. Мок разрешён постановкой и ответом организатора. Источник: docs/ATS_API.md, backend/integration_privacy.py, backend/ats_gateway.py. Скриншот является локальной технической проверкой синтетических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API 0.16.0, схема 7: React/TypeScript обращается к FastAPI через Nginx с HTTPS. FastAPI сохраняет доменное состояние и очередь заданий в PostgreSQL. Встроенный worker читает очередь, проверяет замороженные задания и сохраняет результат; транзакционные письма отправляет через внешний SMTP с проверкой TLS. ATS API с ограниченными ключами и OIDC/подписанный реестр ФСП реализованы как контракты; реальные партнёрские подключения не заявлены. OIDC-мок совместим с Keycloak и проверяется изолированно, не является общим провайдером идентификации действующего стенда. LLM отключена на основном стенде, оценивание не поручено модели. CQRS/EDA являются планом развития, брокер и поисковая БД в действующем релизе отсутствуют. Источник: docs/ARCHITECTURE.md, backend/jobs.py, backend/main.py.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 обычных ролей на действующем сервисе. Данные подготовленных учётных записей искусственные, ограничены правами кандидата или работодателя. Административный пароль не публикуется. Технические прогоны и результаты по эталонам не являются подтверждением квалификации человека. Собственная регистрация с подтверждением email сохраняется. QR содержит адрес сервиса. Источник: docs/FINAL_REVIEW_GUIDE.md и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8c96a176d4545" /><Relationship Type="http://schemas.openxmlformats.org/officeDocument/2006/relationships/image" Target="/ppt/media/image2.png" Id="R20c18e0ea29a47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5e5ca70ab43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654e8e9ab4c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f92cb4a8541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6aa8491b542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e10e8c66847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21b97698840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90f3bf86b45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6230a914f4fe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d7e7aeaaf451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94837897c478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8e37f4b7243a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76d490c9f4dd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cca49bbde415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6de31c4a347a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71eccc67c4ff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9c78d8bc7465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8ae7ad218419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e676a8b8f43a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963f2961e406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3c259c7d943d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4f2aa051e4a2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d3e8146f84ace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20c18e0ea29a47e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11.10.2026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11.10.2026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11.10.2026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11.10.2026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11.10.2026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11.10.2026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4A8D53AE-6657-463C-A413-0D19991F7287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15312543-C2E7-424D-BC05-CE9C71A78EFA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51091516-3501-4A61-A5DA-19B8AB89B61C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23F5E466-53F9-4FBD-A08A-AE1ADDA4B746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11.10.2026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56bbd8f96e0471a" /><Relationship Type="http://schemas.openxmlformats.org/officeDocument/2006/relationships/theme" Target="/ppt/slideMasters/theme/theme2.xml" Id="Reef11b4af30e420e" /><Relationship Type="http://schemas.openxmlformats.org/officeDocument/2006/relationships/slideLayout" Target="/ppt/slideLayouts/slideLayout1.xml" Id="R90a6bad69c1b42e4" /><Relationship Type="http://schemas.openxmlformats.org/officeDocument/2006/relationships/slideLayout" Target="/ppt/slideLayouts/slideLayout2.xml" Id="R9888e27dd11e4c6e" /><Relationship Type="http://schemas.openxmlformats.org/officeDocument/2006/relationships/slideLayout" Target="/ppt/slideLayouts/slideLayout3.xml" Id="Rd41e5fbd371c4e81" /><Relationship Type="http://schemas.openxmlformats.org/officeDocument/2006/relationships/slideLayout" Target="/ppt/slideLayouts/slideLayout4.xml" Id="R7e441a580f854912" /><Relationship Type="http://schemas.openxmlformats.org/officeDocument/2006/relationships/slideLayout" Target="/ppt/slideLayouts/slideLayout5.xml" Id="R9728a243a30946e6" /><Relationship Type="http://schemas.openxmlformats.org/officeDocument/2006/relationships/slideLayout" Target="/ppt/slideLayouts/slideLayout6.xml" Id="Rccf935c8de7145e3" /><Relationship Type="http://schemas.openxmlformats.org/officeDocument/2006/relationships/slideLayout" Target="/ppt/slideLayouts/slideLayout7.xml" Id="R74f6554968134737" /><Relationship Type="http://schemas.openxmlformats.org/officeDocument/2006/relationships/slideLayout" Target="/ppt/slideLayouts/slideLayout8.xml" Id="Rb60cf3be34ff486d" /><Relationship Type="http://schemas.openxmlformats.org/officeDocument/2006/relationships/slideLayout" Target="/ppt/slideLayouts/slideLayout9.xml" Id="Rc51ed0b2548c4b5b" /><Relationship Type="http://schemas.openxmlformats.org/officeDocument/2006/relationships/slideLayout" Target="/ppt/slideLayouts/slideLayout10.xml" Id="Rcdbcedc770474721" /><Relationship Type="http://schemas.openxmlformats.org/officeDocument/2006/relationships/slideLayout" Target="/ppt/slideLayouts/slideLayout11.xml" Id="Rfc4667169abe4385" /><Relationship Type="http://schemas.openxmlformats.org/officeDocument/2006/relationships/slideLayout" Target="/ppt/slideLayouts/slideLayout12.xml" Id="R532a6cbfbbe54021" /><Relationship Type="http://schemas.openxmlformats.org/officeDocument/2006/relationships/slideLayout" Target="/ppt/slideLayouts/slideLayout13.xml" Id="R6a8eef5142464876" /><Relationship Type="http://schemas.openxmlformats.org/officeDocument/2006/relationships/slideLayout" Target="/ppt/slideLayouts/slideLayout14.xml" Id="R3f1c91ec70fd42e9" /><Relationship Type="http://schemas.openxmlformats.org/officeDocument/2006/relationships/slideLayout" Target="/ppt/slideLayouts/slideLayout15.xml" Id="Rd392514d913e4823" /><Relationship Type="http://schemas.openxmlformats.org/officeDocument/2006/relationships/slideLayout" Target="/ppt/slideLayouts/slideLayout16.xml" Id="Re0c6445f1a02496f" /><Relationship Type="http://schemas.openxmlformats.org/officeDocument/2006/relationships/slideLayout" Target="/ppt/slideLayouts/slideLayout17.xml" Id="R9a6397f4577844ae" /><Relationship Type="http://schemas.openxmlformats.org/officeDocument/2006/relationships/slideLayout" Target="/ppt/slideLayouts/slideLayout18.xml" Id="Re4686bb682be427d" /><Relationship Type="http://schemas.openxmlformats.org/officeDocument/2006/relationships/slideLayout" Target="/ppt/slideLayouts/slideLayout19.xml" Id="Rebeafca8e6584e9c" /><Relationship Type="http://schemas.openxmlformats.org/officeDocument/2006/relationships/slideLayout" Target="/ppt/slideLayouts/slideLayout20.xml" Id="R4746b82a65b04b29" /><Relationship Type="http://schemas.openxmlformats.org/officeDocument/2006/relationships/slideLayout" Target="/ppt/slideLayouts/slideLayout21.xml" Id="R64099691bc5e4647" /><Relationship Type="http://schemas.openxmlformats.org/officeDocument/2006/relationships/slideLayout" Target="/ppt/slideLayouts/slideLayout22.xml" Id="Rd5b0b1cf966c4923" /><Relationship Type="http://schemas.openxmlformats.org/officeDocument/2006/relationships/slideLayout" Target="/ppt/slideLayouts/slideLayout23.xml" Id="R2e88592641d44fcc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56bbd8f96e0471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11.10.2026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a6bad69c1b42e4"/>
    <p:sldLayoutId xmlns:r="http://schemas.openxmlformats.org/officeDocument/2006/relationships" id="2147483650" r:id="R9888e27dd11e4c6e"/>
    <p:sldLayoutId xmlns:r="http://schemas.openxmlformats.org/officeDocument/2006/relationships" id="2147483651" r:id="Rd41e5fbd371c4e81"/>
    <p:sldLayoutId xmlns:r="http://schemas.openxmlformats.org/officeDocument/2006/relationships" id="2147483652" r:id="R7e441a580f854912"/>
    <p:sldLayoutId xmlns:r="http://schemas.openxmlformats.org/officeDocument/2006/relationships" id="2147483653" r:id="R9728a243a30946e6"/>
    <p:sldLayoutId xmlns:r="http://schemas.openxmlformats.org/officeDocument/2006/relationships" id="2147483654" r:id="Rccf935c8de7145e3"/>
    <p:sldLayoutId xmlns:r="http://schemas.openxmlformats.org/officeDocument/2006/relationships" id="2147483655" r:id="R74f6554968134737"/>
    <p:sldLayoutId xmlns:r="http://schemas.openxmlformats.org/officeDocument/2006/relationships" id="2147483656" r:id="Rb60cf3be34ff486d"/>
    <p:sldLayoutId xmlns:r="http://schemas.openxmlformats.org/officeDocument/2006/relationships" id="2147483657" r:id="Rc51ed0b2548c4b5b"/>
    <p:sldLayoutId xmlns:r="http://schemas.openxmlformats.org/officeDocument/2006/relationships" id="2147483658" r:id="Rcdbcedc770474721"/>
    <p:sldLayoutId xmlns:r="http://schemas.openxmlformats.org/officeDocument/2006/relationships" id="2147483659" r:id="Rfc4667169abe4385"/>
    <p:sldLayoutId xmlns:r="http://schemas.openxmlformats.org/officeDocument/2006/relationships" id="2147483660" r:id="R532a6cbfbbe54021"/>
    <p:sldLayoutId xmlns:r="http://schemas.openxmlformats.org/officeDocument/2006/relationships" id="2147483661" r:id="R6a8eef5142464876"/>
    <p:sldLayoutId xmlns:r="http://schemas.openxmlformats.org/officeDocument/2006/relationships" id="2147483662" r:id="R3f1c91ec70fd42e9"/>
    <p:sldLayoutId xmlns:r="http://schemas.openxmlformats.org/officeDocument/2006/relationships" id="2147483663" r:id="Rd392514d913e4823"/>
    <p:sldLayoutId xmlns:r="http://schemas.openxmlformats.org/officeDocument/2006/relationships" id="2147483664" r:id="Re0c6445f1a02496f"/>
    <p:sldLayoutId xmlns:r="http://schemas.openxmlformats.org/officeDocument/2006/relationships" id="2147483665" r:id="R9a6397f4577844ae"/>
    <p:sldLayoutId xmlns:r="http://schemas.openxmlformats.org/officeDocument/2006/relationships" id="2147483666" r:id="Re4686bb682be427d"/>
    <p:sldLayoutId xmlns:r="http://schemas.openxmlformats.org/officeDocument/2006/relationships" id="2147483667" r:id="Rebeafca8e6584e9c"/>
    <p:sldLayoutId xmlns:r="http://schemas.openxmlformats.org/officeDocument/2006/relationships" id="2147483668" r:id="R4746b82a65b04b29"/>
    <p:sldLayoutId xmlns:r="http://schemas.openxmlformats.org/officeDocument/2006/relationships" id="2147483669" r:id="R64099691bc5e4647"/>
    <p:sldLayoutId xmlns:r="http://schemas.openxmlformats.org/officeDocument/2006/relationships" id="2147483670" r:id="Rd5b0b1cf966c4923"/>
    <p:sldLayoutId xmlns:r="http://schemas.openxmlformats.org/officeDocument/2006/relationships" id="2147483671" r:id="R2e88592641d44fcc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2f6de73224a37" /><Relationship Type="http://schemas.openxmlformats.org/officeDocument/2006/relationships/image" Target="/ppt/media/image3.png" Id="R16970f5b5c48494d" /><Relationship Type="http://schemas.openxmlformats.org/officeDocument/2006/relationships/notesSlide" Target="/ppt/notesSlides/notesSlide1.xml" Id="R7ba71129eb9441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d311f8f0d40c1" /><Relationship Type="http://schemas.openxmlformats.org/officeDocument/2006/relationships/image" Target="/ppt/media/image4.png" Id="R78ce1beef58b41ba" /><Relationship Type="http://schemas.openxmlformats.org/officeDocument/2006/relationships/image" Target="/ppt/media/image5.png" Id="Re9c3f5356be24eca" /><Relationship Type="http://schemas.openxmlformats.org/officeDocument/2006/relationships/notesSlide" Target="/ppt/notesSlides/notesSlide2.xml" Id="R13420fed5ab5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70c0c077314c41" /><Relationship Type="http://schemas.openxmlformats.org/officeDocument/2006/relationships/image" Target="/ppt/media/image.png" Id="R7aee63e90ec74f31" /><Relationship Type="http://schemas.openxmlformats.org/officeDocument/2006/relationships/image" Target="/ppt/media/image.jpeg" Id="R19424637f708455a" /><Relationship Type="http://schemas.openxmlformats.org/officeDocument/2006/relationships/image" Target="/ppt/media/image2.jpeg" Id="R90be9ad5a83d410a" /><Relationship Type="http://schemas.openxmlformats.org/officeDocument/2006/relationships/notesSlide" Target="/ppt/notesSlides/notesSlide3.xml" Id="R3c49507b630946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7c71ddccee41cb" /><Relationship Type="http://schemas.openxmlformats.org/officeDocument/2006/relationships/image" Target="/ppt/media/image6.png" Id="R3be1a6471e5a4b5c" /><Relationship Type="http://schemas.openxmlformats.org/officeDocument/2006/relationships/notesSlide" Target="/ppt/notesSlides/notesSlide4.xml" Id="Rcf612e4ff99b45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216d97f5bf44dc0" /><Relationship Type="http://schemas.openxmlformats.org/officeDocument/2006/relationships/image" Target="/ppt/media/image.png" Id="R4e8e778d906a4afb" /><Relationship Type="http://schemas.openxmlformats.org/officeDocument/2006/relationships/notesSlide" Target="/ppt/notesSlides/notesSlide5.xml" Id="R75f4a98050d24e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c122f367804a14" /><Relationship Type="http://schemas.openxmlformats.org/officeDocument/2006/relationships/image" Target="/ppt/media/image6.png" Id="R7d7e705efacb4d10" /><Relationship Type="http://schemas.openxmlformats.org/officeDocument/2006/relationships/notesSlide" Target="/ppt/notesSlides/notesSlide6.xml" Id="R9cce71c5c9cb49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9a9b95a3cb480a" /><Relationship Type="http://schemas.openxmlformats.org/officeDocument/2006/relationships/image" Target="/ppt/media/image6.png" Id="R395c549daca340c1" /><Relationship Type="http://schemas.openxmlformats.org/officeDocument/2006/relationships/image" Target="/ppt/media/image7.png" Id="R80af01a7a83f4c35" /><Relationship Type="http://schemas.openxmlformats.org/officeDocument/2006/relationships/notesSlide" Target="/ppt/notesSlides/notesSlide7.xml" Id="R7e5f5c72f26644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77149083c840f7" /><Relationship Type="http://schemas.openxmlformats.org/officeDocument/2006/relationships/image" Target="/ppt/media/image6.png" Id="Rf7d644a82b0542bf" /><Relationship Type="http://schemas.openxmlformats.org/officeDocument/2006/relationships/image" Target="/ppt/media/image8.png" Id="R501ed422bdd54185" /><Relationship Type="http://schemas.openxmlformats.org/officeDocument/2006/relationships/notesSlide" Target="/ppt/notesSlides/notesSlide8.xml" Id="R9d75da90cebb43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934058f8d743d6" /><Relationship Type="http://schemas.openxmlformats.org/officeDocument/2006/relationships/image" Target="/ppt/media/image6.png" Id="R1514c40c53f8495d" /><Relationship Type="http://schemas.openxmlformats.org/officeDocument/2006/relationships/chart" Target="/ppt/slides/charts/chart1.xml" Id="R5301e9b4f644441f" /><Relationship Type="http://schemas.openxmlformats.org/officeDocument/2006/relationships/notesSlide" Target="/ppt/notesSlides/notesSlide9.xml" Id="R02bde863789c43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0f0a92d94243a7" /><Relationship Type="http://schemas.openxmlformats.org/officeDocument/2006/relationships/image" Target="/ppt/media/image6.png" Id="R14038fd59f1643d4" /><Relationship Type="http://schemas.openxmlformats.org/officeDocument/2006/relationships/chart" Target="/ppt/slides/charts/chart2.xml" Id="R3da7bfc1d03a40a6" /><Relationship Type="http://schemas.openxmlformats.org/officeDocument/2006/relationships/notesSlide" Target="/ppt/notesSlides/notesSlide10.xml" Id="Rd5b2a90f3fa54e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699b2996444913" /><Relationship Type="http://schemas.openxmlformats.org/officeDocument/2006/relationships/image" Target="/ppt/media/image6.png" Id="Re1127623b71a4172" /><Relationship Type="http://schemas.openxmlformats.org/officeDocument/2006/relationships/notesSlide" Target="/ppt/notesSlides/notesSlide11.xml" Id="R264554926a6847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df3b00fb7446f3" /><Relationship Type="http://schemas.openxmlformats.org/officeDocument/2006/relationships/image" Target="/ppt/media/image6.png" Id="R3538efee74154383" /><Relationship Type="http://schemas.openxmlformats.org/officeDocument/2006/relationships/chart" Target="/ppt/slides/charts/chart3.xml" Id="R84dc3928796442fc" /><Relationship Type="http://schemas.openxmlformats.org/officeDocument/2006/relationships/notesSlide" Target="/ppt/notesSlides/notesSlide12.xml" Id="Re0312047150b4a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7ea14fac5b4b6a" /><Relationship Type="http://schemas.openxmlformats.org/officeDocument/2006/relationships/image" Target="/ppt/media/image6.png" Id="Re312cf6ce1fb403b" /><Relationship Type="http://schemas.openxmlformats.org/officeDocument/2006/relationships/image" Target="/ppt/media/image9.png" Id="R9fe1b14274524899" /><Relationship Type="http://schemas.openxmlformats.org/officeDocument/2006/relationships/notesSlide" Target="/ppt/notesSlides/notesSlide13.xml" Id="Rb184b362e9a846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10af8236f546bc" /><Relationship Type="http://schemas.openxmlformats.org/officeDocument/2006/relationships/image" Target="/ppt/media/image6.png" Id="R38b6e2cff0124835" /><Relationship Type="http://schemas.openxmlformats.org/officeDocument/2006/relationships/notesSlide" Target="/ppt/notesSlides/notesSlide14.xml" Id="R3a85a7caf5cb40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743b4ff6f041bf" /><Relationship Type="http://schemas.openxmlformats.org/officeDocument/2006/relationships/image" Target="/ppt/media/image6.png" Id="Rd2ef099abb424f91" /><Relationship Type="http://schemas.openxmlformats.org/officeDocument/2006/relationships/image" Target="/ppt/media/image10.png" Id="R72ad2efe50fa46e1" /><Relationship Type="http://schemas.openxmlformats.org/officeDocument/2006/relationships/notesSlide" Target="/ppt/notesSlides/notesSlide15.xml" Id="R83e8e2f27c1f4158" /></Relationships>
</file>

<file path=ppt/slides/charts/_rels/chart1.xml.rels><?xml version='1.0' encoding='utf-8'?>
<ns0:Relationships xmlns:ns0="http://schemas.openxmlformats.org/package/2006/relationships"><ns0:Relationship Id="rIdFspOriginalWorkbook" Type="http://schemas.openxmlformats.org/officeDocument/2006/relationships/package" Target="../../embeddings/fsp-final-chart1.xlsx" /></ns0:Relationships>
</file>

<file path=ppt/slides/charts/_rels/chart2.xml.rels><?xml version='1.0' encoding='utf-8'?>
<ns0:Relationships xmlns:ns0="http://schemas.openxmlformats.org/package/2006/relationships"><ns0:Relationship Id="rIdFspOriginalWorkbook" Type="http://schemas.openxmlformats.org/officeDocument/2006/relationships/package" Target="../../embeddings/fsp-final-chart2.xlsx" /></ns0:Relationships>
</file>

<file path=ppt/slides/charts/_rels/chart3.xml.rels><?xml version='1.0' encoding='utf-8'?>
<ns0:Relationships xmlns:ns0="http://schemas.openxmlformats.org/package/2006/relationships"><ns0:Relationship Id="rIdFspOriginalWorkbook" Type="http://schemas.openxmlformats.org/officeDocument/2006/relationships/package" Target="../../embeddings/fsp-final-chart3.xlsx" /></ns0:Relationships>
</file>

<file path=ppt/slides/charts/chart1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Повторение условий и эталона</c:v>
          </c:tx>
          <c:spPr>
            <ns1:solidFill>
              <ns1:srgbClr val="FF0053"/>
            </ns1:solidFill>
          </c:spPr>
          <c:invertIfNegative val="1"/>
          <c:dLbls>
            <c:numFmt formatCode="0.00%" sourceLinked="0"/>
            <c:spPr>
              <ns1:noFill/>
              <ns1:ln>
                <ns1:noFill/>
              </ns1:ln>
            </c:spPr>
            <c:txPr>
              <ns1:bodyPr anchorCtr="1"/>
              <ns1:lstStyle/>
              <ns1:p>
                <ns1:pPr>
                  <ns1:defRPr sz="1725" b="1">
                    <ns1:solidFill>
                      <ns1:srgbClr val="1C1D22"/>
                    </ns1:solidFill>
                    <ns1:latin typeface="Montserrat"/>
                    <ns1:ea typeface="Montserrat"/>
                    <ns1:cs typeface="Montserrat"/>
                  </ns1:defRPr>
                </ns1:pPr>
              </ns1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Сборка 0.15</c:v>
                </c:pt>
                <c:pt idx="1">
                  <c:v>Сборка 0.16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0.6723</c:v>
                </c:pt>
                <c:pt idx="1">
                  <c:v>0.5288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273732440"/>
        <c:axId val="273735576"/>
      </c:barChart>
      <c:catAx>
        <c:axId val="273732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ns1:ln w="9525">
            <ns1:solidFill>
              <ns1:srgbClr val="CFCADA"/>
            </ns1:solidFill>
          </ns1:ln>
        </c:spPr>
        <c:txPr>
          <ns1:bodyPr anchorCtr="1"/>
          <ns1:lstStyle/>
          <ns1:p>
            <ns1:pPr>
              <ns1:defRPr sz="1650">
                <ns1:solidFill>
                  <ns1:srgbClr val="1C1D22"/>
                </ns1:solidFill>
                <ns1:latin typeface="Montserrat"/>
                <ns1:ea typeface="Montserrat"/>
                <ns1:cs typeface="Montserrat"/>
              </ns1:defRPr>
            </ns1:pPr>
          </ns1:p>
        </c:txPr>
        <c:crossAx val="273735576"/>
        <c:crosses val="autoZero"/>
        <c:lblAlgn val="ctr"/>
        <c:noMultiLvlLbl val="1"/>
        <c:lblOffset val="100"/>
      </c:catAx>
      <c:valAx>
        <c:axId val="273735576"/>
        <c:scaling>
          <c:orientation val="minMax"/>
          <c:max val="1"/>
          <c:min val="0"/>
        </c:scaling>
        <c:delete val="0"/>
        <c:axPos val="l"/>
        <c:majorGridlines>
          <c:spPr>
            <ns1:ln w="9525">
              <ns1:solidFill>
                <ns1:srgbClr val="DDD7E4"/>
              </ns1:solidFill>
            </ns1:ln>
          </c:spPr>
        </c:majorGridlines>
        <c:numFmt formatCode="0%" sourceLinked="0"/>
        <c:majorTickMark val="none"/>
        <c:minorTickMark val="none"/>
        <c:tickLblPos val="nextTo"/>
        <c:spPr>
          <ns1:ln w="0">
            <ns1:noFill/>
          </ns1:ln>
        </c:spPr>
        <c:txPr>
          <ns1:bodyPr anchorCtr="1"/>
          <ns1:lstStyle/>
          <ns1:p>
            <ns1:pPr>
              <ns1:defRPr sz="1500">
                <ns1:solidFill>
                  <ns1:srgbClr val="595468"/>
                </ns1:solidFill>
                <ns1:latin typeface="Montserrat"/>
                <ns1:ea typeface="Montserrat"/>
                <ns1:cs typeface="Montserrat"/>
              </ns1:defRPr>
            </ns1:pPr>
          </ns1:p>
        </c:txPr>
        <c:crossAx val="273732440"/>
        <c:crosses val="autoZero"/>
        <c:crossBetween val="between"/>
        <c:majorUnit val="0.2"/>
      </c:valAx>
      <c:spPr>
        <ns1:solidFill>
          <ns1:srgbClr val="FFFFFF"/>
        </ns1:solidFill>
        <ns1:ln w="0">
          <ns1:noFill/>
        </ns1:ln>
      </c:spPr>
    </c:plotArea>
    <c:plotVisOnly val="1"/>
    <c:dispBlanksAs val="zero"/>
  </c:chart>
  <c:spPr>
    <ns1:solidFill>
      <ns1:srgbClr val="FFFFFF"/>
    </ns1:solidFill>
    <ns1:ln w="0">
      <ns1:noFill/>
    </ns1:ln>
  </c:spPr>
  <c:externalData r:id="rIdFspOriginalWorkbook"/>
</c:chartSpace>
</file>

<file path=ppt/slides/charts/chart2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9 вопросов</c:v>
          </c:tx>
          <c:spPr>
            <ns1:solidFill>
              <ns1:srgbClr val="8A83D1"/>
            </ns1:solidFill>
          </c:spPr>
          <c:invertIfNegative val="1"/>
          <c:dLbls>
            <c:numFmt formatCode="0.00%" sourceLinked="0"/>
            <c:spPr>
              <ns1:noFill/>
              <ns1:ln>
                <ns1:noFill/>
              </ns1:ln>
            </c:spPr>
            <c:txPr>
              <ns1:bodyPr anchorCtr="1"/>
              <ns1:lstStyle/>
              <ns1:p>
                <ns1:pPr>
                  <ns1:defRPr sz="1725" b="1">
                    <ns1:solidFill>
                      <ns1:srgbClr val="1C1D22"/>
                    </ns1:solidFill>
                    <ns1:latin typeface="Montserrat"/>
                    <ns1:ea typeface="Montserrat"/>
                    <ns1:cs typeface="Montserrat"/>
                  </ns1:defRPr>
                </ns1:pPr>
              </ns1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Проход: сильный
модельный профиль</c:v>
                </c:pt>
                <c:pt idx="1">
                  <c:v>Допуск одной
слабой области</c:v>
                </c:pt>
                <c:pt idx="2">
                  <c:v>Расхождение:
пограничный профиль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0.918249</c:v>
                </c:pt>
                <c:pt idx="1">
                  <c:v>0.055345</c:v>
                </c:pt>
                <c:pt idx="2">
                  <c:v>0.278705</c:v>
                </c:pt>
              </c:numCache>
            </c:numRef>
          </c:val>
        </c:ser>
        <c:ser>
          <c:idx val="1"/>
          <c:order val="1"/>
          <c:tx>
            <c:v>12 вопросов</c:v>
          </c:tx>
          <c:spPr>
            <ns1:solidFill>
              <ns1:srgbClr val="FF0053"/>
            </ns1:solidFill>
          </c:spPr>
          <c:invertIfNegative val="1"/>
          <c:dLbls>
            <c:numFmt formatCode="0.00%" sourceLinked="0"/>
            <c:spPr>
              <ns1:noFill/>
              <ns1:ln>
                <ns1:noFill/>
              </ns1:ln>
            </c:spPr>
            <c:txPr>
              <ns1:bodyPr anchorCtr="1"/>
              <ns1:lstStyle/>
              <ns1:p>
                <ns1:pPr>
                  <ns1:defRPr sz="1725" b="1">
                    <ns1:solidFill>
                      <ns1:srgbClr val="1C1D22"/>
                    </ns1:solidFill>
                    <ns1:latin typeface="Montserrat"/>
                    <ns1:ea typeface="Montserrat"/>
                    <ns1:cs typeface="Montserrat"/>
                  </ns1:defRPr>
                </ns1:pPr>
              </ns1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Проход: сильный
модельный профиль</c:v>
                </c:pt>
                <c:pt idx="1">
                  <c:v>Допуск одной
слабой области</c:v>
                </c:pt>
                <c:pt idx="2">
                  <c:v>Расхождение:
пограничный профиль</c:v>
                </c:pt>
              </c:strCache>
            </c:strRef>
          </c:cat>
          <c:val>
            <c:numRef>
              <c:f>'Chart Data'!$D$2:$D$4</c:f>
              <c:numCache>
                <c:formatCode>0.00%</c:formatCode>
                <c:ptCount val="3"/>
                <c:pt idx="0">
                  <c:v>0.937906</c:v>
                </c:pt>
                <c:pt idx="1">
                  <c:v>0.09773</c:v>
                </c:pt>
                <c:pt idx="2">
                  <c:v>0.323064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273736360"/>
        <c:axId val="273735184"/>
      </c:barChart>
      <c:catAx>
        <c:axId val="273736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ns1:ln w="9525">
            <ns1:solidFill>
              <ns1:srgbClr val="CFCADA"/>
            </ns1:solidFill>
          </ns1:ln>
        </c:spPr>
        <c:txPr>
          <ns1:bodyPr anchorCtr="1"/>
          <ns1:lstStyle/>
          <ns1:p>
            <ns1:pPr>
              <ns1:defRPr sz="1650">
                <ns1:solidFill>
                  <ns1:srgbClr val="1C1D22"/>
                </ns1:solidFill>
                <ns1:latin typeface="Montserrat"/>
                <ns1:ea typeface="Montserrat"/>
                <ns1:cs typeface="Montserrat"/>
              </ns1:defRPr>
            </ns1:pPr>
          </ns1:p>
        </c:txPr>
        <c:crossAx val="273735184"/>
        <c:crosses val="autoZero"/>
        <c:lblAlgn val="ctr"/>
        <c:noMultiLvlLbl val="1"/>
        <c:lblOffset val="100"/>
      </c:catAx>
      <c:valAx>
        <c:axId val="273735184"/>
        <c:scaling>
          <c:orientation val="minMax"/>
          <c:max val="1"/>
          <c:min val="0"/>
        </c:scaling>
        <c:delete val="0"/>
        <c:axPos val="l"/>
        <c:majorGridlines>
          <c:spPr>
            <ns1:ln w="9525">
              <ns1:solidFill>
                <ns1:srgbClr val="DDD7E4"/>
              </ns1:solidFill>
            </ns1:ln>
          </c:spPr>
        </c:majorGridlines>
        <c:numFmt formatCode="0%" sourceLinked="0"/>
        <c:majorTickMark val="none"/>
        <c:minorTickMark val="none"/>
        <c:tickLblPos val="nextTo"/>
        <c:spPr>
          <ns1:ln w="0">
            <ns1:noFill/>
          </ns1:ln>
        </c:spPr>
        <c:txPr>
          <ns1:bodyPr anchorCtr="1"/>
          <ns1:lstStyle/>
          <ns1:p>
            <ns1:pPr>
              <ns1:defRPr sz="1500">
                <ns1:solidFill>
                  <ns1:srgbClr val="595468"/>
                </ns1:solidFill>
                <ns1:latin typeface="Montserrat"/>
                <ns1:ea typeface="Montserrat"/>
                <ns1:cs typeface="Montserrat"/>
              </ns1:defRPr>
            </ns1:pPr>
          </ns1:p>
        </c:txPr>
        <c:crossAx val="273736360"/>
        <c:crosses val="autoZero"/>
        <c:crossBetween val="between"/>
      </c:valAx>
      <c:spPr>
        <ns1:solidFill>
          <ns1:srgbClr val="FFFFFF"/>
        </ns1:solidFill>
        <ns1:ln w="0">
          <ns1:noFill/>
        </ns1:ln>
      </c:spPr>
    </c:plotArea>
    <c:legend>
      <c:legendPos val="b"/>
      <c:overlay val="0"/>
      <c:txPr>
        <ns1:bodyPr anchorCtr="1"/>
        <ns1:lstStyle/>
        <ns1:p>
          <ns1:pPr>
            <ns1:defRPr sz="1575">
              <ns1:solidFill>
                <ns1:srgbClr val="1C1D22"/>
              </ns1:solidFill>
              <ns1:latin typeface="Montserrat"/>
              <ns1:ea typeface="Montserrat"/>
              <ns1:cs typeface="Montserrat"/>
            </ns1:defRPr>
          </ns1:pPr>
        </ns1:p>
      </c:txPr>
    </c:legend>
    <c:plotVisOnly val="1"/>
    <c:dispBlanksAs val="zero"/>
  </c:chart>
  <c:spPr>
    <ns1:solidFill>
      <ns1:srgbClr val="FFFFFF"/>
    </ns1:solidFill>
    <ns1:ln w="0">
      <ns1:noFill/>
    </ns1:ln>
  </c:spPr>
  <c:externalData r:id="rIdFspOriginalWorkbook"/>
</c:chartSpace>
</file>

<file path=ppt/slides/charts/chart3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Политика v1</c:v>
          </c:tx>
          <c:spPr>
            <ns1:solidFill>
              <ns1:srgbClr val="8A83D1"/>
            </ns1:solidFill>
          </c:spPr>
          <c:invertIfNegative val="1"/>
          <c:dLbls>
            <c:numFmt formatCode="0.0000" sourceLinked="0"/>
            <c:spPr>
              <ns1:noFill/>
              <ns1:ln>
                <ns1:noFill/>
              </ns1:ln>
            </c:spPr>
            <c:txPr>
              <ns1:bodyPr anchorCtr="1"/>
              <ns1:lstStyle/>
              <ns1:p>
                <ns1:pPr>
                  <ns1:defRPr sz="1725" b="1">
                    <ns1:solidFill>
                      <ns1:srgbClr val="1C1D22"/>
                    </ns1:solidFill>
                    <ns1:latin typeface="Montserrat"/>
                    <ns1:ea typeface="Montserrat"/>
                    <ns1:cs typeface="Montserrat"/>
                  </ns1:defRPr>
                </ns1:pPr>
              </ns1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nDCG@3</c:v>
                </c:pt>
                <c:pt idx="1">
                  <c:v>Precision@3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0.5634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v>Политика v2</c:v>
          </c:tx>
          <c:spPr>
            <ns1:solidFill>
              <ns1:srgbClr val="FF0053"/>
            </ns1:solidFill>
          </c:spPr>
          <c:invertIfNegative val="1"/>
          <c:dLbls>
            <c:numFmt formatCode="0.0000" sourceLinked="0"/>
            <c:spPr>
              <ns1:noFill/>
              <ns1:ln>
                <ns1:noFill/>
              </ns1:ln>
            </c:spPr>
            <c:txPr>
              <ns1:bodyPr anchorCtr="1"/>
              <ns1:lstStyle/>
              <ns1:p>
                <ns1:pPr>
                  <ns1:defRPr sz="1725" b="1">
                    <ns1:solidFill>
                      <ns1:srgbClr val="1C1D22"/>
                    </ns1:solidFill>
                    <ns1:latin typeface="Montserrat"/>
                    <ns1:ea typeface="Montserrat"/>
                    <ns1:cs typeface="Montserrat"/>
                  </ns1:defRPr>
                </ns1:pPr>
              </ns1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nDCG@3</c:v>
                </c:pt>
                <c:pt idx="1">
                  <c:v>Precision@3</c:v>
                </c:pt>
              </c:strCache>
            </c:strRef>
          </c:cat>
          <c:val>
            <c:numRef>
              <c:f>'Chart Data'!$D$2:$D$3</c:f>
              <c:numCache>
                <c:formatCode>0.0000</c:formatCode>
                <c:ptCount val="2"/>
                <c:pt idx="0">
                  <c:v>0.9225</c:v>
                </c:pt>
                <c:pt idx="1">
                  <c:v>0.8852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273732832"/>
        <c:axId val="273732048"/>
      </c:barChart>
      <c:catAx>
        <c:axId val="27373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ns1:ln w="9525">
            <ns1:solidFill>
              <ns1:srgbClr val="CFCADA"/>
            </ns1:solidFill>
          </ns1:ln>
        </c:spPr>
        <c:txPr>
          <ns1:bodyPr anchorCtr="1"/>
          <ns1:lstStyle/>
          <ns1:p>
            <ns1:pPr>
              <ns1:defRPr sz="1650">
                <ns1:solidFill>
                  <ns1:srgbClr val="1C1D22"/>
                </ns1:solidFill>
                <ns1:latin typeface="Montserrat"/>
                <ns1:ea typeface="Montserrat"/>
                <ns1:cs typeface="Montserrat"/>
              </ns1:defRPr>
            </ns1:pPr>
          </ns1:p>
        </c:txPr>
        <c:crossAx val="273732048"/>
        <c:crosses val="autoZero"/>
        <c:lblAlgn val="ctr"/>
        <c:noMultiLvlLbl val="1"/>
        <c:lblOffset val="100"/>
      </c:catAx>
      <c:valAx>
        <c:axId val="273732048"/>
        <c:scaling>
          <c:orientation val="minMax"/>
          <c:max val="1"/>
          <c:min val="0"/>
        </c:scaling>
        <c:delete val="0"/>
        <c:axPos val="l"/>
        <c:majorGridlines>
          <c:spPr>
            <ns1:ln w="9525">
              <ns1:solidFill>
                <ns1:srgbClr val="DDD7E4"/>
              </ns1:solidFill>
            </ns1:ln>
          </c:spPr>
        </c:majorGridlines>
        <c:numFmt formatCode="0.0" sourceLinked="0"/>
        <c:majorTickMark val="none"/>
        <c:minorTickMark val="none"/>
        <c:tickLblPos val="nextTo"/>
        <c:spPr>
          <ns1:ln w="0">
            <ns1:noFill/>
          </ns1:ln>
        </c:spPr>
        <c:txPr>
          <ns1:bodyPr anchorCtr="1"/>
          <ns1:lstStyle/>
          <ns1:p>
            <ns1:pPr>
              <ns1:defRPr sz="1500">
                <ns1:solidFill>
                  <ns1:srgbClr val="595468"/>
                </ns1:solidFill>
                <ns1:latin typeface="Montserrat"/>
                <ns1:ea typeface="Montserrat"/>
                <ns1:cs typeface="Montserrat"/>
              </ns1:defRPr>
            </ns1:pPr>
          </ns1:p>
        </c:txPr>
        <c:crossAx val="273732832"/>
        <c:crosses val="autoZero"/>
        <c:crossBetween val="between"/>
        <c:majorUnit val="0.2"/>
      </c:valAx>
      <c:spPr>
        <ns1:solidFill>
          <ns1:srgbClr val="FFFFFF"/>
        </ns1:solidFill>
        <ns1:ln w="0">
          <ns1:noFill/>
        </ns1:ln>
      </c:spPr>
    </c:plotArea>
    <c:legend>
      <c:legendPos val="b"/>
      <c:overlay val="0"/>
      <c:txPr>
        <ns1:bodyPr anchorCtr="1"/>
        <ns1:lstStyle/>
        <ns1:p>
          <ns1:pPr>
            <ns1:defRPr sz="1575">
              <ns1:solidFill>
                <ns1:srgbClr val="1C1D22"/>
              </ns1:solidFill>
              <ns1:latin typeface="Montserrat"/>
              <ns1:ea typeface="Montserrat"/>
              <ns1:cs typeface="Montserrat"/>
            </ns1:defRPr>
          </ns1:pPr>
        </ns1:p>
      </c:txPr>
    </c:legend>
    <c:plotVisOnly val="1"/>
    <c:dispBlanksAs val="zero"/>
  </c:chart>
  <c:spPr>
    <ns1:solidFill>
      <ns1:srgbClr val="FFFFFF"/>
    </ns1:solidFill>
    <ns1:ln w="0">
      <ns1:noFill/>
    </ns1:ln>
  </c:spPr>
  <c:externalData r:id="rIdFspOriginalWorkbook"/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rPr sz="3400">
                <a:latin typeface="Montserrat"/>
                <a:ea typeface="Montserrat"/>
                <a:cs typeface="Montserrat"/>
              </a:rPr>
              <a:t>ФСП Карьера</a:t>
            </a:r>
            <a:br>
              <a:rPr sz="3400">
                <a:latin typeface="Montserrat"/>
                <a:ea typeface="Montserrat"/>
                <a:cs typeface="Montserrat"/>
              </a:rPr>
            </a:br>
            <a:r>
              <a:rPr sz="3400">
                <a:latin typeface="Montserrat"/>
                <a:ea typeface="Montserrat"/>
                <a:cs typeface="Montserrat"/>
              </a:rPr>
              <a:t>Пермский звериный стиль</a:t>
            </a:r>
            <a:endParaRPr sz="4800"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Цифровая платформа-агрегатор ИТ-вакансий </a:t>
            </a:r>
            <a:br/>
            <a:r>
              <a:t>с верифицированным профилем достижений </a:t>
            </a:r>
            <a:br/>
            <a:r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8657DB96-4E02-47DF-BC95-7F3845835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70f5b5c4849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8ce1beef58b41b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 sz="18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Рабочий артефакт и перенос условия; повторно используемый паспорт; отдельное согласие на ATS и проверяемый отзыв.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Капитан: Георгий Покумин — ML и задания</a:t>
            </a:r>
            <a:b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</a:br>
            <a: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Участники: 2 человека</a:t>
            </a:r>
            <a:b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</a:br>
            <a: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Учились вместе на бакалавриате.</a:t>
            </a:r>
            <a:b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</a:br>
            <a: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Работаем над программными продуктами.</a:t>
            </a:r>
            <a:b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</a:br>
            <a:r>
              <a:rPr sz="1800" b="1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Пермь, Пермский край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F37AD565-0722-4BC8-85F1-D42F75E4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FCA24886-056E-4C29-B95A-C74080A7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99D0F08F-C954-474C-AC1B-92F4DECC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 sz="18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Кандидат подтверждает категорию заданиями. Работодатель находит специалиста и приглашает с конкретной зарплатой.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D5F09-4191-4D1B-870D-3AD16DED0D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3f5356be24eca"/>
          <a:stretch xmlns:a="http://schemas.openxmlformats.org/drawingml/2006/main"/>
        </p:blipFill>
        <p:spPr>
          <a:xfrm xmlns:a="http://schemas.openxmlformats.org/drawingml/2006/main">
            <a:off x="885530" y="335280"/>
            <a:ext cx="4685270" cy="2971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aee63e90ec74f3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16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44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00"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500"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Разработка и аналитика</a:t>
            </a:r>
          </a:p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500"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@urbnztr</a:t>
            </a:r>
          </a:p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500"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Пермь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44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Иван</a:t>
            </a:r>
            <a:br>
              <a:rPr sz="18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</a:br>
            <a:r>
              <a:rPr sz="18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Урбанович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83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600">
                <a:latin typeface="Montserrat"/>
                <a:ea typeface="Montserrat"/>
                <a:cs typeface="Montserrat"/>
              </a:rPr>
              <a:t>КОМАНДА ПЗС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2823667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500"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Капитан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500"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ML и задания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500"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@egorlemeilleur</a:t>
            </a:r>
          </a:p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500">
                <a:latin typeface="Montserrat"/>
                <a:ea typeface="Montserrat"/>
                <a:cs typeface="Montserrat"/>
              </a:defRPr>
            </a:pPr>
            <a:r>
              <a:rPr sz="15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Пермь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66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Георгий</a:t>
            </a:r>
            <a:br>
              <a:rPr sz="18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</a:br>
            <a:r>
              <a:rPr sz="1800" b="1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Покумин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F6E016-C20D-4A9B-8B1C-83C71224CB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24637f708455a"/>
          <a:srcRect xmlns:a="http://schemas.openxmlformats.org/drawingml/2006/main" l="0" t="5230" r="0" b="5230"/>
          <a:stretch xmlns:a="http://schemas.openxmlformats.org/drawingml/2006/main"/>
        </p:blipFill>
        <p:spPr>
          <a:xfrm xmlns:a="http://schemas.openxmlformats.org/drawingml/2006/main">
            <a:off x="2886713" y="1821261"/>
            <a:ext cx="1722596" cy="1542413"/>
          </a:xfrm>
          <a:prstGeom xmlns:a="http://schemas.openxmlformats.org/drawingml/2006/main" prst="rect">
            <a:avLst/>
          </a:prstGeom>
        </p:spPr>
      </p:pic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119217-7682-4F2D-ACF5-267A946C9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e9ad5a83d410a"/>
          <a:srcRect xmlns:a="http://schemas.openxmlformats.org/drawingml/2006/main" l="0" t="16081" r="0" b="16081"/>
          <a:stretch xmlns:a="http://schemas.openxmlformats.org/drawingml/2006/main"/>
        </p:blipFill>
        <p:spPr>
          <a:xfrm xmlns:a="http://schemas.openxmlformats.org/drawingml/2006/main">
            <a:off x="7508799" y="1826514"/>
            <a:ext cx="1703444" cy="15423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be1a6471e5a4b5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500">
                <a:latin typeface="Montserrat"/>
                <a:ea typeface="Montserrat"/>
                <a:cs typeface="Montserrat"/>
              </a:rPr>
              <a:t>КАК МЫ РАБОТАЛИ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10763250" cy="9342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8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Учились в одном вузе на бакалавриате. Объединили опыт разработки и аналитики с ML и проектированием заданий.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10763250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8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Уникальные условия не означают одинаковую сложность. Мы закрепили квоты, эталоны и версии; отдельно проверили оригинальный кейс и перенос. Доступы ФСП и ATS заменены явно обозначенными протокольными стендами.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10763250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80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Помочь специалисту показать умение, а работодателю — получить обоснованную подборку вместо потока неподходящих откликов.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ADF5306B-0AA9-43A6-9013-395B719C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7DCBFF7B-2C83-4DB4-BB5C-401490D1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5B11EE6-ACA9-4647-ADA4-B2A6C16D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e8e778d906a4af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2095500"/>
            <a:ext cx="4929861" cy="38576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FastAPI + React + PostgreSQL.</a:t>
            </a:r>
          </a:p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9 вопросов по квотам, рабочий кейс и новое условие.</a:t>
            </a:r>
          </a:p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Паспорт результата и история попыток.</a:t>
            </a:r>
          </a:p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Адресные согласия, ATS API, отзыв и подтверждение удаления.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2095500"/>
            <a:ext cx="4957144" cy="38576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Один паспорт результата для разных работодателей.</a:t>
            </a:r>
          </a:p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Работодатель сам приглашает кандидата, заранее указывая зарплату.</a:t>
            </a:r>
          </a:p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Подбор показывает причины совпадения.</a:t>
            </a:r>
          </a:p>
          <a:p xmlns:a="http://schemas.openxmlformats.org/drawingml/2006/main">
            <a:pPr marL="254000" indent="-152400">
              <a:spcAft>
                <a:spcPts val="1200"/>
              </a:spcAft>
              <a:buChar char="•"/>
              <a:defRPr sz="20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2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После принятия контакты открыты только пригласившей компании.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</p:txBody>
      </p:sp>
      <p:sp>
        <p:nvSpPr>
          <p:cNvPr id="28" name="prototype-boundary-slide5">
            <a:extLst xmlns:a="http://schemas.openxmlformats.org/drawingml/2006/main">
              <a:ext uri="{FF2B5EF4-FFF2-40B4-BE49-F238E27FC236}">
                <a16:creationId xmlns:a16="http://schemas.microsoft.com/office/drawing/2014/main" id="{81EC578F-5D45-4D6B-A975-54F4C42B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Пороги пилотные. Проверки синтетические. ATS и ФСП ID — протокольные моки.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d7e705efacb4d1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0BF983B7-F7BF-4050-81E9-E21513F342D6}"/>
              </a:ext>
            </a:extLst>
          </p:cNvPr>
          <p:cNvCxnSpPr>
            <a:stCxn xmlns:a="http://schemas.openxmlformats.org/drawingml/2006/main" id="1036" idx="1"/>
            <a:endCxn xmlns:a="http://schemas.openxmlformats.org/drawingml/2006/main" id="1037" idx="3"/>
          </p:cNvCxnSpPr>
          <p:nvPr/>
        </p:nvCxnSpPr>
        <p:spPr>
          <a:xfrm xmlns:a="http://schemas.openxmlformats.org/drawingml/2006/main" flipH="1">
            <a:off x="3705225" y="56292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8FB29487-8CD9-42A1-9397-C87E85DC2503}"/>
              </a:ext>
            </a:extLst>
          </p:cNvPr>
          <p:cNvCxnSpPr>
            <a:stCxn xmlns:a="http://schemas.openxmlformats.org/drawingml/2006/main" id="1035" idx="1"/>
            <a:endCxn xmlns:a="http://schemas.openxmlformats.org/drawingml/2006/main" id="1036" idx="3"/>
          </p:cNvCxnSpPr>
          <p:nvPr/>
        </p:nvCxnSpPr>
        <p:spPr>
          <a:xfrm xmlns:a="http://schemas.openxmlformats.org/drawingml/2006/main" flipH="1">
            <a:off x="8277225" y="56292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9DD27D24-69FF-4800-958D-A9C0FC61ABDF}"/>
              </a:ext>
            </a:extLst>
          </p:cNvPr>
          <p:cNvCxnSpPr>
            <a:stCxn xmlns:a="http://schemas.openxmlformats.org/drawingml/2006/main" id="1030" idx="2"/>
            <a:endCxn xmlns:a="http://schemas.openxmlformats.org/drawingml/2006/main" id="1035" idx="0"/>
          </p:cNvCxnSpPr>
          <p:nvPr/>
        </p:nvCxnSpPr>
        <p:spPr>
          <a:xfrm xmlns:a="http://schemas.openxmlformats.org/drawingml/2006/main">
            <a:off x="10615613" y="453390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860746AD-EAF8-4B73-AE1C-0D0337AB3EF7}"/>
              </a:ext>
            </a:extLst>
          </p:cNvPr>
          <p:cNvCxnSpPr>
            <a:stCxn xmlns:a="http://schemas.openxmlformats.org/drawingml/2006/main" id="1023" idx="2"/>
            <a:endCxn xmlns:a="http://schemas.openxmlformats.org/drawingml/2006/main" id="1029" idx="0"/>
          </p:cNvCxnSpPr>
          <p:nvPr/>
        </p:nvCxnSpPr>
        <p:spPr>
          <a:xfrm xmlns:a="http://schemas.openxmlformats.org/drawingml/2006/main" flipH="1">
            <a:off x="7229475" y="2762250"/>
            <a:ext cx="2319338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AE7D9519-61E7-455D-BAC5-FDE0D2172414}"/>
              </a:ext>
            </a:extLst>
          </p:cNvPr>
          <p:cNvCxnSpPr>
            <a:stCxn xmlns:a="http://schemas.openxmlformats.org/drawingml/2006/main" id="1029" idx="3"/>
            <a:endCxn xmlns:a="http://schemas.openxmlformats.org/drawingml/2006/main" id="1030" idx="1"/>
          </p:cNvCxnSpPr>
          <p:nvPr/>
        </p:nvCxnSpPr>
        <p:spPr>
          <a:xfrm xmlns:a="http://schemas.openxmlformats.org/drawingml/2006/main">
            <a:off x="8515350" y="41148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61C057F3-E1E9-473F-B5EB-347AA2D44788}"/>
              </a:ext>
            </a:extLst>
          </p:cNvPr>
          <p:cNvCxnSpPr>
            <a:stCxn xmlns:a="http://schemas.openxmlformats.org/drawingml/2006/main" id="1028" idx="3"/>
            <a:endCxn xmlns:a="http://schemas.openxmlformats.org/drawingml/2006/main" id="1029" idx="1"/>
          </p:cNvCxnSpPr>
          <p:nvPr/>
        </p:nvCxnSpPr>
        <p:spPr>
          <a:xfrm xmlns:a="http://schemas.openxmlformats.org/drawingml/2006/main">
            <a:off x="5562600" y="4114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F0586BAC-A4EE-4ABB-AB2D-67F842BADD5C}"/>
              </a:ext>
            </a:extLst>
          </p:cNvPr>
          <p:cNvCxnSpPr>
            <a:stCxn xmlns:a="http://schemas.openxmlformats.org/drawingml/2006/main" id="1027" idx="3"/>
            <a:endCxn xmlns:a="http://schemas.openxmlformats.org/drawingml/2006/main" id="1028" idx="1"/>
          </p:cNvCxnSpPr>
          <p:nvPr/>
        </p:nvCxnSpPr>
        <p:spPr>
          <a:xfrm xmlns:a="http://schemas.openxmlformats.org/drawingml/2006/main">
            <a:off x="2657475" y="4114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B0EF1B12-496D-49AC-91B2-47EA3D17579D}"/>
              </a:ext>
            </a:extLst>
          </p:cNvPr>
          <p:cNvCxnSpPr>
            <a:stCxn xmlns:a="http://schemas.openxmlformats.org/drawingml/2006/main" id="1022" idx="3"/>
            <a:endCxn xmlns:a="http://schemas.openxmlformats.org/drawingml/2006/main" id="1023" idx="1"/>
          </p:cNvCxnSpPr>
          <p:nvPr/>
        </p:nvCxnSpPr>
        <p:spPr>
          <a:xfrm xmlns:a="http://schemas.openxmlformats.org/drawingml/2006/main">
            <a:off x="7048500" y="2357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FB64374E-7139-4E6A-8EDC-548C26AADBEC}"/>
              </a:ext>
            </a:extLst>
          </p:cNvPr>
          <p:cNvCxnSpPr>
            <a:stCxn xmlns:a="http://schemas.openxmlformats.org/drawingml/2006/main" id="1021" idx="3"/>
            <a:endCxn xmlns:a="http://schemas.openxmlformats.org/drawingml/2006/main" id="1022" idx="1"/>
          </p:cNvCxnSpPr>
          <p:nvPr/>
        </p:nvCxnSpPr>
        <p:spPr>
          <a:xfrm xmlns:a="http://schemas.openxmlformats.org/drawingml/2006/main">
            <a:off x="3228975" y="23574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accent5"/>
                </a:solidFill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9" name="Архитектура решения">
            <a:extLst xmlns:a="http://schemas.openxmlformats.org/drawingml/2006/main">
              <a:ext uri="{FF2B5EF4-FFF2-40B4-BE49-F238E27FC236}">
                <a16:creationId xmlns:a16="http://schemas.microsoft.com/office/drawing/2014/main" id="{7078E946-ADE0-4F2C-BD6D-30AE60DA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Путь кандидата и работодателя</a:t>
            </a:r>
          </a:p>
        </p:txBody>
      </p:sp>
      <p:sp>
        <p:nvSpPr>
          <p:cNvPr id="1002" name="Модульный монолит. Очередь заданий хранится в PostgreSQ">
            <a:extLst xmlns:a="http://schemas.openxmlformats.org/drawingml/2006/main">
              <a:ext uri="{FF2B5EF4-FFF2-40B4-BE49-F238E27FC236}">
                <a16:creationId xmlns:a16="http://schemas.microsoft.com/office/drawing/2014/main" id="{E9CFDD0A-DF4B-4212-A683-6DE4B0B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Пилотная категория относится к проверенным заданиям. ФСП ID и ATS подключаются через отдельные контракты.</a:t>
            </a:r>
          </a:p>
        </p:txBody>
      </p:sp>
      <p:sp>
        <p:nvSpPr>
          <p:cNvPr id="1020" name="candidate-lane">
            <a:extLst xmlns:a="http://schemas.openxmlformats.org/drawingml/2006/main">
              <a:ext uri="{FF2B5EF4-FFF2-40B4-BE49-F238E27FC236}">
                <a16:creationId xmlns:a16="http://schemas.microsoft.com/office/drawing/2014/main" id="{D376D00D-C5D0-4B19-AABC-788A2CC6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Кандидат</a:t>
            </a:r>
          </a:p>
        </p:txBody>
      </p:sp>
      <p:sp>
        <p:nvSpPr>
          <p:cNvPr id="1021" name="candidate-profile">
            <a:extLst xmlns:a="http://schemas.openxmlformats.org/drawingml/2006/main">
              <a:ext uri="{FF2B5EF4-FFF2-40B4-BE49-F238E27FC236}">
                <a16:creationId xmlns:a16="http://schemas.microsoft.com/office/drawing/2014/main" id="{91B0B31D-27C1-40E0-A3CB-BD455303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714625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Профиль и видимость</a:t>
            </a:r>
          </a:p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на рынке</a:t>
            </a:r>
          </a:p>
        </p:txBody>
      </p:sp>
      <p:sp>
        <p:nvSpPr>
          <p:cNvPr id="1022" name="assessment">
            <a:extLst xmlns:a="http://schemas.openxmlformats.org/drawingml/2006/main">
              <a:ext uri="{FF2B5EF4-FFF2-40B4-BE49-F238E27FC236}">
                <a16:creationId xmlns:a16="http://schemas.microsoft.com/office/drawing/2014/main" id="{61E2CFFB-5536-423B-AAEB-65CA76E0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3381375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9 заданий, рабочий кейс</a:t>
            </a:r>
          </a:p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и изменённое условие</a:t>
            </a:r>
          </a:p>
        </p:txBody>
      </p:sp>
      <p:sp>
        <p:nvSpPr>
          <p:cNvPr id="1023" name="category-passport">
            <a:extLst xmlns:a="http://schemas.openxmlformats.org/drawingml/2006/main">
              <a:ext uri="{FF2B5EF4-FFF2-40B4-BE49-F238E27FC236}">
                <a16:creationId xmlns:a16="http://schemas.microsoft.com/office/drawing/2014/main" id="{06B5FE03-AAE1-4DE4-8503-62431C9A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48125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Автоматическая категория</a:t>
            </a:r>
          </a:p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и паспорт результата</a:t>
            </a:r>
          </a:p>
        </p:txBody>
      </p:sp>
      <p:sp>
        <p:nvSpPr>
          <p:cNvPr id="1026" name="employer-lane">
            <a:extLst xmlns:a="http://schemas.openxmlformats.org/drawingml/2006/main">
              <a:ext uri="{FF2B5EF4-FFF2-40B4-BE49-F238E27FC236}">
                <a16:creationId xmlns:a16="http://schemas.microsoft.com/office/drawing/2014/main" id="{2F7004CD-AB12-447C-B719-A3D60C31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Работодатель</a:t>
            </a:r>
          </a:p>
        </p:txBody>
      </p:sp>
      <p:sp>
        <p:nvSpPr>
          <p:cNvPr id="1027" name="employer-verification">
            <a:extLst xmlns:a="http://schemas.openxmlformats.org/drawingml/2006/main">
              <a:ext uri="{FF2B5EF4-FFF2-40B4-BE49-F238E27FC236}">
                <a16:creationId xmlns:a16="http://schemas.microsoft.com/office/drawing/2014/main" id="{73979279-22B3-4E2F-8306-D578CB29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143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компании</a:t>
            </a:r>
          </a:p>
        </p:txBody>
      </p:sp>
      <p:sp>
        <p:nvSpPr>
          <p:cNvPr id="1028" name="hiring-request">
            <a:extLst xmlns:a="http://schemas.openxmlformats.org/drawingml/2006/main">
              <a:ext uri="{FF2B5EF4-FFF2-40B4-BE49-F238E27FC236}">
                <a16:creationId xmlns:a16="http://schemas.microsoft.com/office/drawing/2014/main" id="{CE0D7FAE-070F-4B25-A121-78192497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695700"/>
            <a:ext cx="25241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Задачи команды,</a:t>
            </a:r>
          </a:p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стек и условия</a:t>
            </a:r>
          </a:p>
        </p:txBody>
      </p:sp>
      <p:sp>
        <p:nvSpPr>
          <p:cNvPr id="1029" name="evidence-matching">
            <a:extLst xmlns:a="http://schemas.openxmlformats.org/drawingml/2006/main">
              <a:ext uri="{FF2B5EF4-FFF2-40B4-BE49-F238E27FC236}">
                <a16:creationId xmlns:a16="http://schemas.microsoft.com/office/drawing/2014/main" id="{42469A18-34CB-4AAD-BB80-D5ED2B5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95700"/>
            <a:ext cx="25717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Подбор с причинами</a:t>
            </a:r>
          </a:p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и источниками</a:t>
            </a:r>
          </a:p>
        </p:txBody>
      </p:sp>
      <p:sp>
        <p:nvSpPr>
          <p:cNvPr id="1030" name="salary-invitation">
            <a:extLst xmlns:a="http://schemas.openxmlformats.org/drawingml/2006/main">
              <a:ext uri="{FF2B5EF4-FFF2-40B4-BE49-F238E27FC236}">
                <a16:creationId xmlns:a16="http://schemas.microsoft.com/office/drawing/2014/main" id="{1678F40D-F6D4-4F56-8358-9E7DF7BE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95700"/>
            <a:ext cx="1914525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Пригласить</a:t>
            </a:r>
          </a:p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с зарплатой</a:t>
            </a:r>
          </a:p>
        </p:txBody>
      </p:sp>
      <p:sp>
        <p:nvSpPr>
          <p:cNvPr id="1035" name="candidate-decision">
            <a:extLst xmlns:a="http://schemas.openxmlformats.org/drawingml/2006/main">
              <a:ext uri="{FF2B5EF4-FFF2-40B4-BE49-F238E27FC236}">
                <a16:creationId xmlns:a16="http://schemas.microsoft.com/office/drawing/2014/main" id="{30AD54DC-40AF-4E00-B2BC-91D6643C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19700"/>
            <a:ext cx="19145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Решение</a:t>
            </a:r>
          </a:p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кандидата</a:t>
            </a:r>
          </a:p>
        </p:txBody>
      </p:sp>
      <p:sp>
        <p:nvSpPr>
          <p:cNvPr id="1036" name="addressed-contact">
            <a:extLst xmlns:a="http://schemas.openxmlformats.org/drawingml/2006/main">
              <a:ext uri="{FF2B5EF4-FFF2-40B4-BE49-F238E27FC236}">
                <a16:creationId xmlns:a16="http://schemas.microsoft.com/office/drawing/2014/main" id="{58142A1D-0F57-44E8-9711-57882711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219700"/>
            <a:ext cx="2857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Контакты только</a:t>
            </a:r>
          </a:p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этой организации</a:t>
            </a:r>
          </a:p>
        </p:txBody>
      </p:sp>
      <p:sp>
        <p:nvSpPr>
          <p:cNvPr id="1037" name="separate-ats-consent">
            <a:extLst xmlns:a="http://schemas.openxmlformats.org/drawingml/2006/main">
              <a:ext uri="{FF2B5EF4-FFF2-40B4-BE49-F238E27FC236}">
                <a16:creationId xmlns:a16="http://schemas.microsoft.com/office/drawing/2014/main" id="{8E49DED7-75F1-4D6E-B5B1-FFFF2A0E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319087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Отдельное согласие</a:t>
            </a:r>
          </a:p>
          <a:p xmlns:a="http://schemas.openxmlformats.org/drawingml/2006/main">
            <a:pPr algn="ctr">
              <a:def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на передачу в ATS</a:t>
            </a:r>
          </a:p>
        </p:txBody>
      </p:sp>
      <p:sp>
        <p:nvSpPr>
          <p:cNvPr id="1040" name="edge-Принять">
            <a:extLst xmlns:a="http://schemas.openxmlformats.org/drawingml/2006/main">
              <a:ext uri="{FF2B5EF4-FFF2-40B4-BE49-F238E27FC236}">
                <a16:creationId xmlns:a16="http://schemas.microsoft.com/office/drawing/2014/main" id="{B5E2792A-6780-462D-9211-E2266131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295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38303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303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8303F"/>
                </a:solidFill>
                <a:latin typeface="Montserrat"/>
                <a:ea typeface="Montserrat"/>
                <a:cs typeface="Montserrat"/>
              </a:rPr>
              <a:t>Принять</a:t>
            </a:r>
          </a:p>
        </p:txBody>
      </p:sp>
      <p:sp>
        <p:nvSpPr>
          <p:cNvPr id="1042" name="edge-Разрешить">
            <a:extLst xmlns:a="http://schemas.openxmlformats.org/drawingml/2006/main">
              <a:ext uri="{FF2B5EF4-FFF2-40B4-BE49-F238E27FC236}">
                <a16:creationId xmlns:a16="http://schemas.microsoft.com/office/drawing/2014/main" id="{FF3D0DEF-1B00-4534-B114-E26D7068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2959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38303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303F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38303F"/>
                </a:solidFill>
                <a:latin typeface="Montserrat"/>
                <a:ea typeface="Montserrat"/>
                <a:cs typeface="Montserrat"/>
              </a:rPr>
              <a:t>Разрешить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5c549daca340c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0" name="Как работает ФСП Карьера">
            <a:extLst xmlns:a="http://schemas.openxmlformats.org/drawingml/2006/main">
              <a:ext uri="{FF2B5EF4-FFF2-40B4-BE49-F238E27FC236}">
                <a16:creationId xmlns:a16="http://schemas.microsoft.com/office/drawing/2014/main" id="{4C3E58FB-59D2-429E-98D5-1DEC3480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Интерфейс подбора</a:t>
            </a:r>
          </a:p>
        </p:txBody>
      </p:sp>
      <p:sp>
        <p:nvSpPr>
          <p:cNvPr id="1002" name="Экраны локального стенда. Все записи и результаты демон">
            <a:extLst xmlns:a="http://schemas.openxmlformats.org/drawingml/2006/main">
              <a:ext uri="{FF2B5EF4-FFF2-40B4-BE49-F238E27FC236}">
                <a16:creationId xmlns:a16="http://schemas.microsoft.com/office/drawing/2014/main" id="{A4FA7E4A-2B3A-4CE4-B321-4082073E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Обычные аккаунты локального стенда. Данные и ответы — технический проверочный набор.</a:t>
            </a:r>
          </a:p>
        </p:txBody>
      </p:sp>
      <p:sp>
        <p:nvSpPr>
          <p:cNvPr id="1003" name="Проверка навыков и приглашение без вакансии">
            <a:extLst xmlns:a="http://schemas.openxmlformats.org/drawingml/2006/main">
              <a:ext uri="{FF2B5EF4-FFF2-40B4-BE49-F238E27FC236}">
                <a16:creationId xmlns:a16="http://schemas.microsoft.com/office/drawing/2014/main" id="{FC7AF38C-BD03-442C-A1B1-EE84BF7F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Проверка навыков и приглашение без вакансии</a:t>
            </a:r>
          </a:p>
        </p:txBody>
      </p:sp>
      <p:sp>
        <p:nvSpPr>
          <p:cNvPr id="1004" name="Кандидат">
            <a:extLst xmlns:a="http://schemas.openxmlformats.org/drawingml/2006/main">
              <a:ext uri="{FF2B5EF4-FFF2-40B4-BE49-F238E27FC236}">
                <a16:creationId xmlns:a16="http://schemas.microsoft.com/office/drawing/2014/main" id="{71FB331E-9247-486B-A695-E6786A56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Кандидат</a:t>
            </a:r>
          </a:p>
        </p:txBody>
      </p:sp>
      <p:sp>
        <p:nvSpPr>
          <p:cNvPr id="1005" name="Профиль&#10;Тест, рабочий кейс и перенос&#10;Паспорт результата">
            <a:extLst xmlns:a="http://schemas.openxmlformats.org/drawingml/2006/main">
              <a:ext uri="{FF2B5EF4-FFF2-40B4-BE49-F238E27FC236}">
                <a16:creationId xmlns:a16="http://schemas.microsoft.com/office/drawing/2014/main" id="{DF663DDA-7703-433A-893B-2AE0599D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</a:t>
            </a:r>
          </a:p>
          <a:p xmlns:a="http://schemas.openxmlformats.org/drawingml/2006/main">
            <a:pPr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Тест, рабочий кейс и перенос</a:t>
            </a:r>
          </a:p>
          <a:p xmlns:a="http://schemas.openxmlformats.org/drawingml/2006/main">
            <a:pPr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Паспорт результата</a:t>
            </a:r>
          </a:p>
        </p:txBody>
      </p:sp>
      <p:sp>
        <p:nvSpPr>
          <p:cNvPr id="1006" name="Работодатель">
            <a:extLst xmlns:a="http://schemas.openxmlformats.org/drawingml/2006/main">
              <a:ext uri="{FF2B5EF4-FFF2-40B4-BE49-F238E27FC236}">
                <a16:creationId xmlns:a16="http://schemas.microsoft.com/office/drawing/2014/main" id="{3CB94B74-C93D-4E97-A71D-4DEB689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Работодатель</a:t>
            </a:r>
          </a:p>
        </p:txBody>
      </p:sp>
      <p:sp>
        <p:nvSpPr>
          <p:cNvPr id="1007" name="Запрос на подбор&#10;Объяснение соответствия&#10;Приглашение с ">
            <a:extLst xmlns:a="http://schemas.openxmlformats.org/drawingml/2006/main">
              <a:ext uri="{FF2B5EF4-FFF2-40B4-BE49-F238E27FC236}">
                <a16:creationId xmlns:a16="http://schemas.microsoft.com/office/drawing/2014/main" id="{5634CDAB-71DF-4E59-8A5C-78DDC08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4476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Запрос на подбор</a:t>
            </a:r>
          </a:p>
          <a:p xmlns:a="http://schemas.openxmlformats.org/drawingml/2006/main">
            <a:pPr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Объяснение соответствия</a:t>
            </a:r>
          </a:p>
          <a:p xmlns:a="http://schemas.openxmlformats.org/drawingml/2006/main">
            <a:pPr>
              <a:buNone/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Приглашение с зарплатой</a:t>
            </a:r>
          </a:p>
        </p:txBody>
      </p:sp>
      <p:pic>
        <p:nvPicPr>
          <p:cNvPr id="1017" name="Рисунок 1016">
            <a:extLst xmlns:a="http://schemas.openxmlformats.org/drawingml/2006/main">
              <a:ext uri="{FF2B5EF4-FFF2-40B4-BE49-F238E27FC236}">
                <a16:creationId xmlns:a16="http://schemas.microsoft.com/office/drawing/2014/main" id="{0527022F-5463-4468-8D0E-AE85FC7ED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f01a7a83f4c35"/>
          <a:srcRect xmlns:a="http://schemas.openxmlformats.org/drawingml/2006/main" l="19000" t="54000" r="2500" b="10000"/>
          <a:stretch xmlns:a="http://schemas.openxmlformats.org/drawingml/2006/main"/>
        </p:blipFill>
        <p:spPr>
          <a:xfrm xmlns:a="http://schemas.openxmlformats.org/drawingml/2006/main">
            <a:off x="5457864" y="2244097"/>
            <a:ext cx="6038772" cy="2417432"/>
          </a:xfrm>
          <a:prstGeom xmlns:a="http://schemas.openxmlformats.org/drawingml/2006/main" prst="rect">
            <a:avLst/>
          </a:prstGeom>
        </p:spPr>
      </p:pic>
      <p:sp>
        <p:nvSpPr>
          <p:cNvPr id="1009" name="Контакты открываются выбранной компании после принятия ">
            <a:extLst xmlns:a="http://schemas.openxmlformats.org/drawingml/2006/main">
              <a:ext uri="{FF2B5EF4-FFF2-40B4-BE49-F238E27FC236}">
                <a16:creationId xmlns:a16="http://schemas.microsoft.com/office/drawing/2014/main" id="{658722C5-3EBF-4AF4-A8CD-E7691B7D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576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Контакты открываются выбранной компании после принятия приглашения.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7d644a82b0542b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0" name="Задание и паспорт результата">
            <a:extLst xmlns:a="http://schemas.openxmlformats.org/drawingml/2006/main">
              <a:ext uri="{FF2B5EF4-FFF2-40B4-BE49-F238E27FC236}">
                <a16:creationId xmlns:a16="http://schemas.microsoft.com/office/drawing/2014/main" id="{6E0097B0-BAD9-43C2-BB41-3D6FFADC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Задание и паспорт результата</a:t>
            </a:r>
          </a:p>
        </p:txBody>
      </p:sp>
      <p:sp>
        <p:nvSpPr>
          <p:cNvPr id="1002" name="Пример тренировки на синтетических данных. Пороги катег">
            <a:extLst xmlns:a="http://schemas.openxmlformats.org/drawingml/2006/main">
              <a:ext uri="{FF2B5EF4-FFF2-40B4-BE49-F238E27FC236}">
                <a16:creationId xmlns:a16="http://schemas.microsoft.com/office/drawing/2014/main" id="{573A4902-AE1A-4B14-B320-2D62901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Технический пример аттестации. Эталон задан командой; пороги категории остаются пилотными.</a:t>
            </a:r>
          </a:p>
        </p:txBody>
      </p:sp>
      <p:sp>
        <p:nvSpPr>
          <p:cNvPr id="1003" name="Backend Python Middle">
            <a:extLst xmlns:a="http://schemas.openxmlformats.org/drawingml/2006/main">
              <a:ext uri="{FF2B5EF4-FFF2-40B4-BE49-F238E27FC236}">
                <a16:creationId xmlns:a16="http://schemas.microsoft.com/office/drawing/2014/main" id="{3A763525-C936-4ACF-8C5C-DD80C04F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Backend Python Middle</a:t>
            </a:r>
          </a:p>
        </p:txBody>
      </p:sp>
      <p:sp>
        <p:nvSpPr>
          <p:cNvPr id="1004" name="Рабочий кейс: идемпотентность API">
            <a:extLst xmlns:a="http://schemas.openxmlformats.org/drawingml/2006/main">
              <a:ext uri="{FF2B5EF4-FFF2-40B4-BE49-F238E27FC236}">
                <a16:creationId xmlns:a16="http://schemas.microsoft.com/office/drawing/2014/main" id="{EA08DFCE-3813-49D0-9DA5-0D42023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Рабочий кейс и изменённое условие</a:t>
            </a:r>
          </a:p>
        </p:txBody>
      </p:sp>
      <p:sp>
        <p:nvSpPr>
          <p:cNvPr id="1005" name="Повтор запроса возвращает прежний ответ.&#10;Другой tenant ">
            <a:extLst xmlns:a="http://schemas.openxmlformats.org/drawingml/2006/main">
              <a:ext uri="{FF2B5EF4-FFF2-40B4-BE49-F238E27FC236}">
                <a16:creationId xmlns:a16="http://schemas.microsoft.com/office/drawing/2014/main" id="{E94A8B97-5FE9-4FD5-96CB-BAB95CCC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9875"/>
            <a:ext cx="5762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Независимый эталон проверяет план.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Небезопасные решения отклоняются.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Новое условие меняет ожидания.</a:t>
            </a:r>
          </a:p>
        </p:txBody>
      </p:sp>
      <p:sp>
        <p:nvSpPr>
          <p:cNvPr id="1006" name="Кандидат исправляет JSON-план.&#10;Система проверяет инвари">
            <a:extLst xmlns:a="http://schemas.openxmlformats.org/drawingml/2006/main">
              <a:ext uri="{FF2B5EF4-FFF2-40B4-BE49-F238E27FC236}">
                <a16:creationId xmlns:a16="http://schemas.microsoft.com/office/drawing/2014/main" id="{DAB021C2-1D4C-4E75-9B2F-6D563437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576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исправляет рабочий артефакт.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Система проверяет исходное решение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перенос в новое условие.</a:t>
            </a:r>
          </a:p>
        </p:txBody>
      </p:sp>
      <p:pic>
        <p:nvPicPr>
          <p:cNvPr id="1016" name="Рисунок 1015">
            <a:extLst xmlns:a="http://schemas.openxmlformats.org/drawingml/2006/main">
              <a:ext uri="{FF2B5EF4-FFF2-40B4-BE49-F238E27FC236}">
                <a16:creationId xmlns:a16="http://schemas.microsoft.com/office/drawing/2014/main" id="{9C24A7B5-AF1F-4117-85F0-0BCDF1505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ed422bdd5418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87750" y="2532882"/>
            <a:ext cx="3169624" cy="1363610"/>
          </a:xfrm>
          <a:prstGeom xmlns:a="http://schemas.openxmlformats.org/drawingml/2006/main" prst="rect">
            <a:avLst/>
          </a:prstGeom>
        </p:spPr>
      </p:pic>
      <p:sp>
        <p:nvSpPr>
          <p:cNvPr id="1008" name="Условия выдачи категории">
            <a:extLst xmlns:a="http://schemas.openxmlformats.org/drawingml/2006/main">
              <a:ext uri="{FF2B5EF4-FFF2-40B4-BE49-F238E27FC236}">
                <a16:creationId xmlns:a16="http://schemas.microsoft.com/office/drawing/2014/main" id="{A3C7BA47-6122-4775-854B-8020A35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Условия выдачи категории</a:t>
            </a:r>
          </a:p>
        </p:txBody>
      </p:sp>
      <p:sp>
        <p:nvSpPr>
          <p:cNvPr id="1009" name="≥ 70% общего результата&#10;≥ 50% в каждой области&#10;Все пров">
            <a:extLst xmlns:a="http://schemas.openxmlformats.org/drawingml/2006/main">
              <a:ext uri="{FF2B5EF4-FFF2-40B4-BE49-F238E27FC236}">
                <a16:creationId xmlns:a16="http://schemas.microsoft.com/office/drawing/2014/main" id="{B1AD3DA8-9BC4-4697-9338-BDB4264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≥ 70% короткого теста</a:t>
            </a:r>
          </a:p>
          <a:p xmlns:a="http://schemas.openxmlformats.org/drawingml/2006/main">
            <a:pPr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≥ 50% в каждой области</a:t>
            </a:r>
          </a:p>
          <a:p xmlns:a="http://schemas.openxmlformats.org/drawingml/2006/main">
            <a:pPr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Все проверки кейса и переноса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14c40c53f8495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07" name="Разнообразие заданий">
            <a:extLst xmlns:a="http://schemas.openxmlformats.org/drawingml/2006/main">
              <a:ext uri="{FF2B5EF4-FFF2-40B4-BE49-F238E27FC236}">
                <a16:creationId xmlns:a16="http://schemas.microsoft.com/office/drawing/2014/main" id="{38CB4C01-BF36-420C-AE91-1DFD4972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Разнообразие заданий</a:t>
            </a:r>
          </a:p>
        </p:txBody>
      </p:sp>
      <p:sp>
        <p:nvSpPr>
          <p:cNvPr id="1002" name="Источник: full-assessment.json. Сравнение 48 форм каждо">
            <a:extLst xmlns:a="http://schemas.openxmlformats.org/drawingml/2006/main">
              <a:ext uri="{FF2B5EF4-FFF2-40B4-BE49-F238E27FC236}">
                <a16:creationId xmlns:a16="http://schemas.microsoft.com/office/drawing/2014/main" id="{4CB6E539-966C-4B1D-97B5-A3DB634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960 форм: по 20 в каждой сборке для 24 сочетаний. Измеряется выдача, а не квалификация людей.</a:t>
            </a:r>
          </a:p>
        </p:txBody>
      </p:sp>
      <p:sp>
        <p:nvSpPr>
          <p:cNvPr id="1003" name="Число структурных семейств в форме">
            <a:extLst xmlns:a="http://schemas.openxmlformats.org/drawingml/2006/main">
              <a:ext uri="{FF2B5EF4-FFF2-40B4-BE49-F238E27FC236}">
                <a16:creationId xmlns:a16="http://schemas.microsoft.com/office/drawing/2014/main" id="{2A14E3A6-902B-44B0-8568-44525BEC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Доля точных повторов условия и эталона</a:t>
            </a:r>
          </a:p>
        </p:txBody>
      </p:sp>
      <p:graphicFrame>
        <p:nvGraphicFramePr>
          <p:cNvPr id="1010" name="Chart">
            <a:extLst xmlns:a="http://schemas.openxmlformats.org/drawingml/2006/main">
              <a:ext uri="{FF2B5EF4-FFF2-40B4-BE49-F238E27FC236}">
                <a16:creationId xmlns:a16="http://schemas.microsoft.com/office/drawing/2014/main" id="{AF35B7F1-DCA2-4A02-A050-453D67004368}"/>
              </a:ext>
            </a:extLst>
          </p:cNvPr>
          <p:cNvGraphicFramePr/>
          <p:nvPr/>
        </p:nvGraphicFramePr>
        <p:xfrm>
          <a:off xmlns:a="http://schemas.openxmlformats.org/drawingml/2006/main" x="514350" y="2190750"/>
          <a:ext xmlns:a="http://schemas.openxmlformats.org/drawingml/2006/main" cx="6477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01e9b4f644441f"/>
          </a:graphicData>
        </a:graphic>
      </p:graphicFrame>
      <p:sp>
        <p:nvSpPr>
          <p:cNvPr id="1005" name="Три основные области&#10;Девять коротких заданий&#10;Рабочий ке">
            <a:extLst xmlns:a="http://schemas.openxmlformats.org/drawingml/2006/main">
              <a:ext uri="{FF2B5EF4-FFF2-40B4-BE49-F238E27FC236}">
                <a16:creationId xmlns:a16="http://schemas.microsoft.com/office/drawing/2014/main" id="{75839EDC-5B9B-4D9E-BB70-F68C7FF9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3857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72 сценария грейдов</a:t>
            </a:r>
          </a:p>
          <a:p xmlns:a="http://schemas.openxmlformats.org/drawingml/2006/main">
            <a:pPr>
              <a:buNone/>
              <a:def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Четыре варианта ответа</a:t>
            </a:r>
          </a:p>
          <a:p xmlns:a="http://schemas.openxmlformats.org/drawingml/2006/main">
            <a:pPr>
              <a:buNone/>
              <a:def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Три профильные области</a:t>
            </a:r>
          </a:p>
          <a:p xmlns:a="http://schemas.openxmlformats.org/drawingml/2006/main">
            <a:pPr>
              <a:buNone/>
              <a:def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Рабочий кейс и перенос</a:t>
            </a:r>
          </a:p>
        </p:txBody>
      </p:sp>
      <p:sp>
        <p:nvSpPr>
          <p:cNvPr id="1006" name="Конечный банк можно выучить.&#10;Эквивалентность сложности&#10;">
            <a:extLst xmlns:a="http://schemas.openxmlformats.org/drawingml/2006/main">
              <a:ext uri="{FF2B5EF4-FFF2-40B4-BE49-F238E27FC236}">
                <a16:creationId xmlns:a16="http://schemas.microsoft.com/office/drawing/2014/main" id="{F3199479-DFC9-415E-8CF5-02EFA7E8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38625"/>
            <a:ext cx="3857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Конечный банк можно выучить.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Эквивалентность сложности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 людях ещё не измерена.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4038fd59f1643d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06" name="Синтетический test–retest">
            <a:extLst xmlns:a="http://schemas.openxmlformats.org/drawingml/2006/main">
              <a:ext uri="{FF2B5EF4-FFF2-40B4-BE49-F238E27FC236}">
                <a16:creationId xmlns:a16="http://schemas.microsoft.com/office/drawing/2014/main" id="{C3CC2DFF-7B43-4A37-9B05-23FB02B3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правил грейда</a:t>
            </a:r>
          </a:p>
        </p:txBody>
      </p:sp>
      <p:sp>
        <p:nvSpPr>
          <p:cNvPr id="1002" name="24 сочетания направления и уровня. Пять модельных профи">
            <a:extLst xmlns:a="http://schemas.openxmlformats.org/drawingml/2006/main">
              <a:ext uri="{FF2B5EF4-FFF2-40B4-BE49-F238E27FC236}">
                <a16:creationId xmlns:a16="http://schemas.microsoft.com/office/drawing/2014/main" id="{F5135A24-13FA-464F-9245-6E211E0C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Точный расчёт при независимых ответах. 4 608 комбинаций проверены функцией присвоения категории.</a:t>
            </a:r>
          </a:p>
        </p:txBody>
      </p:sp>
      <p:sp>
        <p:nvSpPr>
          <p:cNvPr id="1003" name="Стабильность решений в этом опыте не выросла">
            <a:extLst xmlns:a="http://schemas.openxmlformats.org/drawingml/2006/main">
              <a:ext uri="{FF2B5EF4-FFF2-40B4-BE49-F238E27FC236}">
                <a16:creationId xmlns:a16="http://schemas.microsoft.com/office/drawing/2014/main" id="{032FCB5F-EBAA-45BB-BFF2-CBDC2489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 модели 12 вопросов чаще допускают слабую область</a:t>
            </a:r>
          </a:p>
        </p:txBody>
      </p:sp>
      <p:graphicFrame>
        <p:nvGraphicFramePr>
          <p:cNvPr id="1009" name="Chart">
            <a:extLst xmlns:a="http://schemas.openxmlformats.org/drawingml/2006/main">
              <a:ext uri="{FF2B5EF4-FFF2-40B4-BE49-F238E27FC236}">
                <a16:creationId xmlns:a16="http://schemas.microsoft.com/office/drawing/2014/main" id="{068EA1E7-96B7-4727-A330-15FC6768F6D6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109061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7bfc1d03a40a6"/>
          </a:graphicData>
        </a:graphic>
      </p:graphicFrame>
      <p:sp>
        <p:nvSpPr>
          <p:cNvPr id="1005" name="Вероятности ответов и успешного кейса заданы моделью. К">
            <a:extLst xmlns:a="http://schemas.openxmlformats.org/drawingml/2006/main">
              <a:ext uri="{FF2B5EF4-FFF2-40B4-BE49-F238E27FC236}">
                <a16:creationId xmlns:a16="http://schemas.microsoft.com/office/drawing/2014/main" id="{12AD8AE8-AEAF-4899-8906-6F85FDC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Сохраняем 9 вопросов по результатам модельного сравнения.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квалификации на реальных участниках ещё не проводилась.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1127623b71a417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946152A6-918C-403F-94C3-D00FDD1EAC80}"/>
              </a:ext>
            </a:extLst>
          </p:cNvPr>
          <p:cNvCxnSpPr>
            <a:stCxn xmlns:a="http://schemas.openxmlformats.org/drawingml/2006/main" id="1022" idx="2"/>
            <a:endCxn xmlns:a="http://schemas.openxmlformats.org/drawingml/2006/main" id="1023" idx="0"/>
          </p:cNvCxnSpPr>
          <p:nvPr/>
        </p:nvCxnSpPr>
        <p:spPr>
          <a:xfrm xmlns:a="http://schemas.openxmlformats.org/drawingml/2006/main">
            <a:off x="3195638" y="42005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B00B8467-2EA1-49F5-A1B8-3FD38FFDC1A7}"/>
              </a:ext>
            </a:extLst>
          </p:cNvPr>
          <p:cNvCxnSpPr>
            <a:stCxn xmlns:a="http://schemas.openxmlformats.org/drawingml/2006/main" id="1021" idx="2"/>
            <a:endCxn xmlns:a="http://schemas.openxmlformats.org/drawingml/2006/main" id="1022" idx="0"/>
          </p:cNvCxnSpPr>
          <p:nvPr/>
        </p:nvCxnSpPr>
        <p:spPr>
          <a:xfrm xmlns:a="http://schemas.openxmlformats.org/drawingml/2006/main">
            <a:off x="3195638" y="29527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9" name="Архитектура решения">
            <a:extLst xmlns:a="http://schemas.openxmlformats.org/drawingml/2006/main">
              <a:ext uri="{FF2B5EF4-FFF2-40B4-BE49-F238E27FC236}">
                <a16:creationId xmlns:a16="http://schemas.microsoft.com/office/drawing/2014/main" id="{7078E946-ADE0-4F2C-BD6D-30AE60DA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Как формируется подбор</a:t>
            </a:r>
          </a:p>
        </p:txBody>
      </p:sp>
      <p:sp>
        <p:nvSpPr>
          <p:cNvPr id="1002" name="Модульный монолит. Очередь заданий хранится в PostgreSQ">
            <a:extLst xmlns:a="http://schemas.openxmlformats.org/drawingml/2006/main">
              <a:ext uri="{FF2B5EF4-FFF2-40B4-BE49-F238E27FC236}">
                <a16:creationId xmlns:a16="http://schemas.microsoft.com/office/drawing/2014/main" id="{E9CFDD0A-DF4B-4212-A683-6DE4B0B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category-evidence-v2: прозрачные баллы 0–100. Балл не является вероятностью трудоустройства.</a:t>
            </a:r>
          </a:p>
        </p:txBody>
      </p:sp>
      <p:sp>
        <p:nvSpPr>
          <p:cNvPr id="1020" name="matching-before-score">
            <a:extLst xmlns:a="http://schemas.openxmlformats.org/drawingml/2006/main">
              <a:ext uri="{FF2B5EF4-FFF2-40B4-BE49-F238E27FC236}">
                <a16:creationId xmlns:a16="http://schemas.microsoft.com/office/drawing/2014/main" id="{92693A41-34BD-4823-AD63-E4675324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Сначала обязательный допуск, затем ранжирование</a:t>
            </a:r>
          </a:p>
        </p:txBody>
      </p:sp>
      <p:sp>
        <p:nvSpPr>
          <p:cNvPr id="1021" name="eligibility">
            <a:extLst xmlns:a="http://schemas.openxmlformats.org/drawingml/2006/main">
              <a:ext uri="{FF2B5EF4-FFF2-40B4-BE49-F238E27FC236}">
                <a16:creationId xmlns:a16="http://schemas.microsoft.com/office/drawing/2014/main" id="{0269E446-BAAC-4C70-A3BC-F28C0FC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362575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1. Публикация, согласия и действующая</a:t>
            </a:r>
          </a:p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категория нужного направления</a:t>
            </a:r>
          </a:p>
        </p:txBody>
      </p:sp>
      <p:sp>
        <p:nvSpPr>
          <p:cNvPr id="1022" name="conditions">
            <a:extLst xmlns:a="http://schemas.openxmlformats.org/drawingml/2006/main">
              <a:ext uri="{FF2B5EF4-FFF2-40B4-BE49-F238E27FC236}">
                <a16:creationId xmlns:a16="http://schemas.microsoft.com/office/drawing/2014/main" id="{47F03DC1-E2B3-400D-AE11-D6DFFDE1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5362575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2. Грейд, зарплата, формат работы</a:t>
            </a:r>
          </a:p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и город без явных конфликтов</a:t>
            </a:r>
          </a:p>
        </p:txBody>
      </p:sp>
      <p:sp>
        <p:nvSpPr>
          <p:cNvPr id="1023" name="ranking">
            <a:extLst xmlns:a="http://schemas.openxmlformats.org/drawingml/2006/main">
              <a:ext uri="{FF2B5EF4-FFF2-40B4-BE49-F238E27FC236}">
                <a16:creationId xmlns:a16="http://schemas.microsoft.com/office/drawing/2014/main" id="{A5B1B604-DC93-4597-AA3B-683B7347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5362575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3. Результат и объяснение</a:t>
            </a:r>
          </a:p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с теми же вкладами</a:t>
            </a:r>
          </a:p>
        </p:txBody>
      </p:sp>
      <p:sp>
        <p:nvSpPr>
          <p:cNvPr id="1026" name="score-heading">
            <a:extLst xmlns:a="http://schemas.openxmlformats.org/drawingml/2006/main">
              <a:ext uri="{FF2B5EF4-FFF2-40B4-BE49-F238E27FC236}">
                <a16:creationId xmlns:a16="http://schemas.microsoft.com/office/drawing/2014/main" id="{8AC847F6-B89E-4991-AB5D-7F8B1C70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47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Вклады в балл, максимум</a:t>
            </a:r>
          </a:p>
        </p:txBody>
      </p:sp>
      <p:sp>
        <p:nvSpPr>
          <p:cNvPr id="1027" name="score-values">
            <a:extLst xmlns:a="http://schemas.openxmlformats.org/drawingml/2006/main">
              <a:ext uri="{FF2B5EF4-FFF2-40B4-BE49-F238E27FC236}">
                <a16:creationId xmlns:a16="http://schemas.microsoft.com/office/drawing/2014/main" id="{9245E4B9-EB73-404D-BD5B-EB8877A7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14625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rPr>
              <a:t>55  Результат заданий категории</a:t>
            </a:r>
          </a:p>
          <a:p xmlns:a="http://schemas.openxmlformats.org/drawingml/2006/main">
            <a:pPr>
              <a:def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rPr>
              <a:t>20  Совпадение технологий</a:t>
            </a:r>
          </a:p>
          <a:p xmlns:a="http://schemas.openxmlformats.org/drawingml/2006/main">
            <a:pPr>
              <a:def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rPr>
              <a:t>20  Проверки и источники навыков</a:t>
            </a:r>
          </a:p>
          <a:p xmlns:a="http://schemas.openxmlformats.org/drawingml/2006/main">
            <a:pPr>
              <a:def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rPr>
              <a:t>  3  Давность проверки</a:t>
            </a:r>
          </a:p>
          <a:p xmlns:a="http://schemas.openxmlformats.org/drawingml/2006/main">
            <a:pPr>
              <a:def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22329"/>
                </a:solidFill>
                <a:latin typeface="Montserrat"/>
                <a:ea typeface="Montserrat"/>
                <a:cs typeface="Montserrat"/>
              </a:rPr>
              <a:t>  2  Индивидуальные сведения ФСП</a:t>
            </a:r>
          </a:p>
        </p:txBody>
      </p:sp>
      <p:sp>
        <p:nvSpPr>
          <p:cNvPr id="1028" name="score-adjustments">
            <a:extLst xmlns:a="http://schemas.openxmlformats.org/drawingml/2006/main">
              <a:ext uri="{FF2B5EF4-FFF2-40B4-BE49-F238E27FC236}">
                <a16:creationId xmlns:a16="http://schemas.microsoft.com/office/drawing/2014/main" id="{68E6A396-6A66-4CFB-ACF2-22EA9F88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149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14963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14963"/>
                </a:solidFill>
                <a:latin typeface="Montserrat"/>
                <a:ea typeface="Montserrat"/>
                <a:cs typeface="Montserrat"/>
              </a:rPr>
              <a:t>Соседний грейд: −8. Неопределённое условие: −2. Самоописание не выдаёт категорию.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38efee7415438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solidFill>
                  <a:schemeClr val="accent5"/>
                </a:solidFill>
              </a:rPr>
              <a:t>12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0" name="Качество подбора">
            <a:extLst xmlns:a="http://schemas.openxmlformats.org/drawingml/2006/main">
              <a:ext uri="{FF2B5EF4-FFF2-40B4-BE49-F238E27FC236}">
                <a16:creationId xmlns:a16="http://schemas.microsoft.com/office/drawing/2014/main" id="{17D41BF9-83B5-4116-B91A-A47F6A98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Качество подбора</a:t>
            </a:r>
          </a:p>
        </p:txBody>
      </p:sp>
      <p:sp>
        <p:nvSpPr>
          <p:cNvPr id="1002" name="Источник: ranking.json. Авторская синтетическая разметк">
            <a:extLst xmlns:a="http://schemas.openxmlformats.org/drawingml/2006/main">
              <a:ext uri="{FF2B5EF4-FFF2-40B4-BE49-F238E27FC236}">
                <a16:creationId xmlns:a16="http://schemas.microsoft.com/office/drawing/2014/main" id="{64916AC9-7AD3-4DA0-87AF-65417CDD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ranking.json: историческая оценка той же формулы v2. Авторская разметка, семейства разделены.</a:t>
            </a:r>
          </a:p>
        </p:txBody>
      </p:sp>
      <p:sp>
        <p:nvSpPr>
          <p:cNvPr id="1003" name="Сравнение политик на 360 отложенных сценариях">
            <a:extLst xmlns:a="http://schemas.openxmlformats.org/drawingml/2006/main">
              <a:ext uri="{FF2B5EF4-FFF2-40B4-BE49-F238E27FC236}">
                <a16:creationId xmlns:a16="http://schemas.microsoft.com/office/drawing/2014/main" id="{2150F13C-D4D0-4BB4-AFAA-D9FDA28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Сравнение политик на 360 отложенных сценариях</a:t>
            </a:r>
          </a:p>
        </p:txBody>
      </p:sp>
      <p:graphicFrame>
        <p:nvGraphicFramePr>
          <p:cNvPr id="1013" name="Chart">
            <a:extLst xmlns:a="http://schemas.openxmlformats.org/drawingml/2006/main">
              <a:ext uri="{FF2B5EF4-FFF2-40B4-BE49-F238E27FC236}">
                <a16:creationId xmlns:a16="http://schemas.microsoft.com/office/drawing/2014/main" id="{5C7BDDE3-535A-4313-9625-DC88A7308D3A}"/>
              </a:ext>
            </a:extLst>
          </p:cNvPr>
          <p:cNvGraphicFramePr/>
          <p:nvPr/>
        </p:nvGraphicFramePr>
        <p:xfrm>
          <a:off xmlns:a="http://schemas.openxmlformats.org/drawingml/2006/main" x="514350" y="2143125"/>
          <a:ext xmlns:a="http://schemas.openxmlformats.org/drawingml/2006/main" cx="666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dc3928796442fc"/>
          </a:graphicData>
        </a:graphic>
      </p:graphicFrame>
      <p:sp>
        <p:nvSpPr>
          <p:cNvPr id="1005" name="nDCG@3">
            <a:extLst xmlns:a="http://schemas.openxmlformats.org/drawingml/2006/main">
              <a:ext uri="{FF2B5EF4-FFF2-40B4-BE49-F238E27FC236}">
                <a16:creationId xmlns:a16="http://schemas.microsoft.com/office/drawing/2014/main" id="{E9866A86-C73B-4CC1-BA9F-28BCCA0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nDCG@3</a:t>
            </a:r>
          </a:p>
        </p:txBody>
      </p:sp>
      <p:sp>
        <p:nvSpPr>
          <p:cNvPr id="1006" name="Качество порядка&#10;первых трёх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1BD140DE-7291-42E1-8402-918C621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3571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Качество ранжирования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первых трёх результатов</a:t>
            </a:r>
          </a:p>
        </p:txBody>
      </p:sp>
      <p:sp>
        <p:nvSpPr>
          <p:cNvPr id="1007" name="Precision@3">
            <a:extLst xmlns:a="http://schemas.openxmlformats.org/drawingml/2006/main">
              <a:ext uri="{FF2B5EF4-FFF2-40B4-BE49-F238E27FC236}">
                <a16:creationId xmlns:a16="http://schemas.microsoft.com/office/drawing/2014/main" id="{BEF6B76A-3907-4F79-AE37-D6B0C31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Precision@3</a:t>
            </a:r>
          </a:p>
        </p:txBody>
      </p:sp>
      <p:sp>
        <p:nvSpPr>
          <p:cNvPr id="1008" name="Доля релевантных&#10;в первых трёх результатах">
            <a:extLst xmlns:a="http://schemas.openxmlformats.org/drawingml/2006/main">
              <a:ext uri="{FF2B5EF4-FFF2-40B4-BE49-F238E27FC236}">
                <a16:creationId xmlns:a16="http://schemas.microsoft.com/office/drawing/2014/main" id="{7D3B3FDF-C606-44A8-8792-B4A08077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33875"/>
            <a:ext cx="3571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Доля подходящих кандидатов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первой тройке</a:t>
            </a:r>
          </a:p>
        </p:txBody>
      </p:sp>
      <p:sp>
        <p:nvSpPr>
          <p:cNvPr id="1009" name="Запрещённых выдач: 0. Фактический найм не измерялся.">
            <a:extLst xmlns:a="http://schemas.openxmlformats.org/drawingml/2006/main">
              <a:ext uri="{FF2B5EF4-FFF2-40B4-BE49-F238E27FC236}">
                <a16:creationId xmlns:a16="http://schemas.microsoft.com/office/drawing/2014/main" id="{A15A0531-3E8A-4E47-AD43-67DC47AA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Запрещённых выдач: 0. Фактический найм не измерялся.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312cf6ce1fb40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rPr>
                <a:solidFill>
                  <a:schemeClr val="accent5"/>
                </a:solidFill>
              </a:rPr>
              <a:t>13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8" name="Полный цикл ATS">
            <a:extLst xmlns:a="http://schemas.openxmlformats.org/drawingml/2006/main">
              <a:ext uri="{FF2B5EF4-FFF2-40B4-BE49-F238E27FC236}">
                <a16:creationId xmlns:a16="http://schemas.microsoft.com/office/drawing/2014/main" id="{11DF050B-0111-478E-B696-5D6A2B9B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Полный цикл ATS</a:t>
            </a:r>
          </a:p>
        </p:txBody>
      </p:sp>
      <p:sp>
        <p:nvSpPr>
          <p:cNvPr id="1002" name="Локальный ATS-мок. Реальная коммерческая ATS на конкурс">
            <a:extLst xmlns:a="http://schemas.openxmlformats.org/drawingml/2006/main">
              <a:ext uri="{FF2B5EF4-FFF2-40B4-BE49-F238E27FC236}">
                <a16:creationId xmlns:a16="http://schemas.microsoft.com/office/drawing/2014/main" id="{8DE983A0-169A-4086-9484-10565B1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ATS-мок проверяет протокол. Коммерческая ATS и официальный ФСП ID не подключены.</a:t>
            </a:r>
          </a:p>
        </p:txBody>
      </p:sp>
      <p:sp>
        <p:nvSpPr>
          <p:cNvPr id="1003" name="Отдельное согласие на передачу и проверяемый отзыв">
            <a:extLst xmlns:a="http://schemas.openxmlformats.org/drawingml/2006/main">
              <a:ext uri="{FF2B5EF4-FFF2-40B4-BE49-F238E27FC236}">
                <a16:creationId xmlns:a16="http://schemas.microsoft.com/office/drawing/2014/main" id="{A29545E9-222A-4A10-A3B1-8E4935C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Отдельное согласие на передачу и проверяемый отзыв</a:t>
            </a:r>
          </a:p>
        </p:txBody>
      </p:sp>
      <p:sp>
        <p:nvSpPr>
          <p:cNvPr id="1004" name="Согласие">
            <a:extLst xmlns:a="http://schemas.openxmlformats.org/drawingml/2006/main">
              <a:ext uri="{FF2B5EF4-FFF2-40B4-BE49-F238E27FC236}">
                <a16:creationId xmlns:a16="http://schemas.microsoft.com/office/drawing/2014/main" id="{AE6B02F4-48CD-42CB-AD0E-2DF547E0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FFA"/>
          </a:solidFill>
          <a:ln xmlns:a="http://schemas.openxmlformats.org/drawingml/2006/main" w="15240">
            <a:solidFill>
              <a:srgbClr val="5209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Согласие</a:t>
            </a:r>
          </a:p>
        </p:txBody>
      </p:sp>
      <p:sp>
        <p:nvSpPr>
          <p:cNvPr id="1005" name="Передача">
            <a:extLst xmlns:a="http://schemas.openxmlformats.org/drawingml/2006/main">
              <a:ext uri="{FF2B5EF4-FFF2-40B4-BE49-F238E27FC236}">
                <a16:creationId xmlns:a16="http://schemas.microsoft.com/office/drawing/2014/main" id="{39B76F2E-E88B-46B5-BDE4-86F3852F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3837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FFA"/>
          </a:solidFill>
          <a:ln xmlns:a="http://schemas.openxmlformats.org/drawingml/2006/main" w="15240">
            <a:solidFill>
              <a:srgbClr val="5209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Передача</a:t>
            </a:r>
          </a:p>
        </p:txBody>
      </p:sp>
      <p:sp>
        <p:nvSpPr>
          <p:cNvPr id="1006" name="Этап найма">
            <a:extLst xmlns:a="http://schemas.openxmlformats.org/drawingml/2006/main">
              <a:ext uri="{FF2B5EF4-FFF2-40B4-BE49-F238E27FC236}">
                <a16:creationId xmlns:a16="http://schemas.microsoft.com/office/drawing/2014/main" id="{7BBD7816-4808-42B4-B705-D7CDCD71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3837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FFA"/>
          </a:solidFill>
          <a:ln xmlns:a="http://schemas.openxmlformats.org/drawingml/2006/main" w="15240">
            <a:solidFill>
              <a:srgbClr val="5209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Этап найма</a:t>
            </a:r>
          </a:p>
        </p:txBody>
      </p:sp>
      <p:sp>
        <p:nvSpPr>
          <p:cNvPr id="1007" name="Отзыв">
            <a:extLst xmlns:a="http://schemas.openxmlformats.org/drawingml/2006/main">
              <a:ext uri="{FF2B5EF4-FFF2-40B4-BE49-F238E27FC236}">
                <a16:creationId xmlns:a16="http://schemas.microsoft.com/office/drawing/2014/main" id="{AB15A23C-A8D9-4539-A855-CD86A5B6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FFA"/>
          </a:solidFill>
          <a:ln xmlns:a="http://schemas.openxmlformats.org/drawingml/2006/main" w="15240">
            <a:solidFill>
              <a:srgbClr val="5209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Отзыв</a:t>
            </a:r>
          </a:p>
        </p:txBody>
      </p:sp>
      <p:sp>
        <p:nvSpPr>
          <p:cNvPr id="1008" name="Удаление">
            <a:extLst xmlns:a="http://schemas.openxmlformats.org/drawingml/2006/main">
              <a:ext uri="{FF2B5EF4-FFF2-40B4-BE49-F238E27FC236}">
                <a16:creationId xmlns:a16="http://schemas.microsoft.com/office/drawing/2014/main" id="{84A0DFA6-BE4B-45BD-A6A2-A3EAF30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85762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FFA"/>
          </a:solidFill>
          <a:ln xmlns:a="http://schemas.openxmlformats.org/drawingml/2006/main" w="15240">
            <a:solidFill>
              <a:srgbClr val="5209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Удаление</a:t>
            </a:r>
          </a:p>
        </p:txBody>
      </p:sp>
      <p:sp>
        <p:nvSpPr>
          <p:cNvPr id="1009" name="Ack&#10;удаления">
            <a:extLst xmlns:a="http://schemas.openxmlformats.org/drawingml/2006/main">
              <a:ext uri="{FF2B5EF4-FFF2-40B4-BE49-F238E27FC236}">
                <a16:creationId xmlns:a16="http://schemas.microsoft.com/office/drawing/2014/main" id="{6B9010BA-14F6-4A25-A3B2-61A81A73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57625"/>
            <a:ext cx="17621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FFA"/>
          </a:solidFill>
          <a:ln xmlns:a="http://schemas.openxmlformats.org/drawingml/2006/main" w="15240">
            <a:solidFill>
              <a:srgbClr val="52097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>
              <a:defRPr sz="16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Подтвердить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удаление</a:t>
            </a:r>
          </a:p>
        </p:txBody>
      </p:sp>
      <p:cxnSp>
        <p:nvCxnSpPr>
          <p:cNvPr id="1027" name="Прямая со стрелкой 1026">
            <a:extLst xmlns:a="http://schemas.openxmlformats.org/drawingml/2006/main">
              <a:ext uri="{FF2B5EF4-FFF2-40B4-BE49-F238E27FC236}">
                <a16:creationId xmlns:a16="http://schemas.microsoft.com/office/drawing/2014/main" id="{6AD3A4F0-EEDB-44CE-9A98-33DEF7F7AE78}"/>
              </a:ext>
            </a:extLst>
          </p:cNvPr>
          <p:cNvCxnSpPr>
            <a:stCxn xmlns:a="http://schemas.openxmlformats.org/drawingml/2006/main" id="1004" idx="3"/>
            <a:endCxn xmlns:a="http://schemas.openxmlformats.org/drawingml/2006/main" id="1005" idx="1"/>
          </p:cNvCxnSpPr>
          <p:nvPr/>
        </p:nvCxnSpPr>
        <p:spPr>
          <a:xfrm xmlns:a="http://schemas.openxmlformats.org/drawingml/2006/main">
            <a:off x="2276475" y="2619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0978"/>
            </a:solidFill>
            <a:tailEnd type="arrow" w="med" len="med"/>
          </a:ln>
        </p:spPr>
      </p:cxnSp>
      <p:cxnSp>
        <p:nvCxnSpPr>
          <p:cNvPr id="1028" name="Прямая со стрелкой 1027">
            <a:extLst xmlns:a="http://schemas.openxmlformats.org/drawingml/2006/main">
              <a:ext uri="{FF2B5EF4-FFF2-40B4-BE49-F238E27FC236}">
                <a16:creationId xmlns:a16="http://schemas.microsoft.com/office/drawing/2014/main" id="{00DBB2B6-2428-4277-8DE7-0272E943DCD0}"/>
              </a:ext>
            </a:extLst>
          </p:cNvPr>
          <p:cNvCxnSpPr>
            <a:stCxn xmlns:a="http://schemas.openxmlformats.org/drawingml/2006/main" id="1005" idx="3"/>
            <a:endCxn xmlns:a="http://schemas.openxmlformats.org/drawingml/2006/main" id="1006" idx="1"/>
          </p:cNvCxnSpPr>
          <p:nvPr/>
        </p:nvCxnSpPr>
        <p:spPr>
          <a:xfrm xmlns:a="http://schemas.openxmlformats.org/drawingml/2006/main">
            <a:off x="4324350" y="2619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0978"/>
            </a:solidFill>
            <a:tailEnd type="arrow" w="med" len="med"/>
          </a:ln>
        </p:spPr>
      </p:cxnSp>
      <p:cxnSp>
        <p:nvCxnSpPr>
          <p:cNvPr id="1029" name="Соединительная линия уступом 1028">
            <a:extLst xmlns:a="http://schemas.openxmlformats.org/drawingml/2006/main">
              <a:ext uri="{FF2B5EF4-FFF2-40B4-BE49-F238E27FC236}">
                <a16:creationId xmlns:a16="http://schemas.microsoft.com/office/drawing/2014/main" id="{53B35C10-6104-4150-9B53-4D80885006A5}"/>
              </a:ext>
            </a:extLst>
          </p:cNvPr>
          <p:cNvCxnSpPr>
            <a:stCxn xmlns:a="http://schemas.openxmlformats.org/drawingml/2006/main" id="1006" idx="2"/>
            <a:endCxn xmlns:a="http://schemas.openxmlformats.org/drawingml/2006/main" id="1007" idx="0"/>
          </p:cNvCxnSpPr>
          <p:nvPr/>
        </p:nvCxnSpPr>
        <p:spPr>
          <a:xfrm xmlns:a="http://schemas.openxmlformats.org/drawingml/2006/main" flipH="1">
            <a:off x="1395413" y="3000375"/>
            <a:ext cx="40957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0978"/>
            </a:solidFill>
            <a:tailEnd type="arrow" w="med" len="med"/>
          </a:ln>
        </p:spPr>
      </p:cxnSp>
      <p:cxnSp>
        <p:nvCxnSpPr>
          <p:cNvPr id="1030" name="Прямая со стрелкой 1029">
            <a:extLst xmlns:a="http://schemas.openxmlformats.org/drawingml/2006/main">
              <a:ext uri="{FF2B5EF4-FFF2-40B4-BE49-F238E27FC236}">
                <a16:creationId xmlns:a16="http://schemas.microsoft.com/office/drawing/2014/main" id="{A2DA78AF-D77B-4DA9-BB96-41E56D42BAA5}"/>
              </a:ext>
            </a:extLst>
          </p:cNvPr>
          <p:cNvCxnSpPr>
            <a:stCxn xmlns:a="http://schemas.openxmlformats.org/drawingml/2006/main" id="1007" idx="3"/>
            <a:endCxn xmlns:a="http://schemas.openxmlformats.org/drawingml/2006/main" id="1008" idx="1"/>
          </p:cNvCxnSpPr>
          <p:nvPr/>
        </p:nvCxnSpPr>
        <p:spPr>
          <a:xfrm xmlns:a="http://schemas.openxmlformats.org/drawingml/2006/main">
            <a:off x="2276475" y="4238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0978"/>
            </a:solidFill>
            <a:tailEnd type="arrow" w="med" len="med"/>
          </a:ln>
        </p:spPr>
      </p:cxnSp>
      <p:cxnSp>
        <p:nvCxnSpPr>
          <p:cNvPr id="1031" name="Прямая со стрелкой 1030">
            <a:extLst xmlns:a="http://schemas.openxmlformats.org/drawingml/2006/main">
              <a:ext uri="{FF2B5EF4-FFF2-40B4-BE49-F238E27FC236}">
                <a16:creationId xmlns:a16="http://schemas.microsoft.com/office/drawing/2014/main" id="{8418FEF9-DC49-4D2C-A1E8-F75F30622120}"/>
              </a:ext>
            </a:extLst>
          </p:cNvPr>
          <p:cNvCxnSpPr>
            <a:stCxn xmlns:a="http://schemas.openxmlformats.org/drawingml/2006/main" id="1008" idx="3"/>
            <a:endCxn xmlns:a="http://schemas.openxmlformats.org/drawingml/2006/main" id="1009" idx="1"/>
          </p:cNvCxnSpPr>
          <p:nvPr/>
        </p:nvCxnSpPr>
        <p:spPr>
          <a:xfrm xmlns:a="http://schemas.openxmlformats.org/drawingml/2006/main">
            <a:off x="4324350" y="4238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0978"/>
            </a:solidFill>
            <a:tailEnd type="arrow" w="med" len="med"/>
          </a:ln>
        </p:spPr>
      </p:cxnSp>
      <p:sp>
        <p:nvSpPr>
          <p:cNvPr id="1015" name="Повтор не создаёт дубликат.&#10;Сбой сохраняет незавершённы">
            <a:extLst xmlns:a="http://schemas.openxmlformats.org/drawingml/2006/main">
              <a:ext uri="{FF2B5EF4-FFF2-40B4-BE49-F238E27FC236}">
                <a16:creationId xmlns:a16="http://schemas.microsoft.com/office/drawing/2014/main" id="{66885ECF-FE6D-4C11-95C1-01BF7C0C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Повтор не создаёт дубликат.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Отзыв закрывает новые выгрузки.</a:t>
            </a:r>
          </a:p>
        </p:txBody>
      </p:sp>
      <p:pic>
        <p:nvPicPr>
          <p:cNvPr id="1033" name="Рисунок 1032">
            <a:extLst xmlns:a="http://schemas.openxmlformats.org/drawingml/2006/main">
              <a:ext uri="{FF2B5EF4-FFF2-40B4-BE49-F238E27FC236}">
                <a16:creationId xmlns:a16="http://schemas.microsoft.com/office/drawing/2014/main" id="{BD67E8C7-6629-41A6-8DD0-423646CDE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1b14274524899"/>
          <a:stretch xmlns:a="http://schemas.openxmlformats.org/drawingml/2006/main"/>
        </p:blipFill>
        <p:spPr>
          <a:xfrm xmlns:a="http://schemas.openxmlformats.org/drawingml/2006/main">
            <a:off x="6954900" y="2333625"/>
            <a:ext cx="4616324" cy="2619375"/>
          </a:xfrm>
          <a:prstGeom xmlns:a="http://schemas.openxmlformats.org/drawingml/2006/main" prst="rect">
            <a:avLst/>
          </a:prstGeom>
        </p:spPr>
      </p:pic>
      <p:sp>
        <p:nvSpPr>
          <p:cNvPr id="1017" name="После обработки отзыва:&#10;удалена 1 копия,&#10;ожидают подтве">
            <a:extLst xmlns:a="http://schemas.openxmlformats.org/drawingml/2006/main">
              <a:ext uri="{FF2B5EF4-FFF2-40B4-BE49-F238E27FC236}">
                <a16:creationId xmlns:a16="http://schemas.microsoft.com/office/drawing/2014/main" id="{D99CCAFF-1775-458A-B687-DB6708E9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29250"/>
            <a:ext cx="404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После обработки отзыва: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удалено копий: 1,</a:t>
            </a:r>
          </a:p>
          <a:p xmlns:a="http://schemas.openxmlformats.org/drawingml/2006/main">
            <a:pPr>
              <a:buNone/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ожидают подтверждения: 0.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b6e2cff012483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61330FF9-1589-484A-9B21-2E96D0496E18}"/>
              </a:ext>
            </a:extLst>
          </p:cNvPr>
          <p:cNvCxnSpPr>
            <a:stCxn xmlns:a="http://schemas.openxmlformats.org/drawingml/2006/main" id="1030" idx="1"/>
            <a:endCxn xmlns:a="http://schemas.openxmlformats.org/drawingml/2006/main" id="1029" idx="3"/>
          </p:cNvCxnSpPr>
          <p:nvPr/>
        </p:nvCxnSpPr>
        <p:spPr>
          <a:xfrm xmlns:a="http://schemas.openxmlformats.org/drawingml/2006/main" flipH="1">
            <a:off x="8610600" y="4676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C695F6F9-3A9A-4FDF-A7EB-D95E8686334A}"/>
              </a:ext>
            </a:extLst>
          </p:cNvPr>
          <p:cNvCxnSpPr>
            <a:stCxn xmlns:a="http://schemas.openxmlformats.org/drawingml/2006/main" id="1024" idx="2"/>
            <a:endCxn xmlns:a="http://schemas.openxmlformats.org/drawingml/2006/main" id="1030" idx="0"/>
          </p:cNvCxnSpPr>
          <p:nvPr/>
        </p:nvCxnSpPr>
        <p:spPr>
          <a:xfrm xmlns:a="http://schemas.openxmlformats.org/drawingml/2006/main">
            <a:off x="10377488" y="310515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headEnd type="arrow" w="sm" len="sm"/>
            <a:tailEnd type="arrow" w="sm" len="sm"/>
          </a:ln>
        </p:spPr>
      </p:cxnSp>
      <p:cxnSp>
        <p:nvCxn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87B1A14E-F263-496C-B5B9-12BF09475273}"/>
              </a:ext>
            </a:extLst>
          </p:cNvPr>
          <p:cNvCxnSpPr>
            <a:stCxn xmlns:a="http://schemas.openxmlformats.org/drawingml/2006/main" id="1023" idx="2"/>
            <a:endCxn xmlns:a="http://schemas.openxmlformats.org/drawingml/2006/main" id="1028" idx="0"/>
          </p:cNvCxnSpPr>
          <p:nvPr/>
        </p:nvCxnSpPr>
        <p:spPr>
          <a:xfrm xmlns:a="http://schemas.openxmlformats.org/drawingml/2006/main" flipH="1">
            <a:off x="2895600" y="3105150"/>
            <a:ext cx="4333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tailEnd type="arrow" w="sm" len="sm"/>
          </a:ln>
        </p:spPr>
      </p:cxnSp>
      <p:cxnSp>
        <p:nvCxn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F3B7B8AA-D382-44B3-ACF7-C1041FC44E78}"/>
              </a:ext>
            </a:extLst>
          </p:cNvPr>
          <p:cNvCxnSpPr>
            <a:stCxn xmlns:a="http://schemas.openxmlformats.org/drawingml/2006/main" id="1023" idx="3"/>
            <a:endCxn xmlns:a="http://schemas.openxmlformats.org/drawingml/2006/main" id="1024" idx="1"/>
          </p:cNvCxnSpPr>
          <p:nvPr/>
        </p:nvCxnSpPr>
        <p:spPr>
          <a:xfrm xmlns:a="http://schemas.openxmlformats.org/drawingml/2006/main">
            <a:off x="8610600" y="2676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081BA657-C2C7-4779-98A4-BD64C705BAB1}"/>
              </a:ext>
            </a:extLst>
          </p:cNvPr>
          <p:cNvCxnSpPr>
            <a:stCxn xmlns:a="http://schemas.openxmlformats.org/drawingml/2006/main" id="1022" idx="3"/>
            <a:endCxn xmlns:a="http://schemas.openxmlformats.org/drawingml/2006/main" id="1023" idx="1"/>
          </p:cNvCxnSpPr>
          <p:nvPr/>
        </p:nvCxnSpPr>
        <p:spPr>
          <a:xfrm xmlns:a="http://schemas.openxmlformats.org/drawingml/2006/main">
            <a:off x="5276850" y="2676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cxnSp>
        <p:nvCxn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A883D4B0-41CA-422E-B2FC-A83F34F8E093}"/>
              </a:ext>
            </a:extLst>
          </p:cNvPr>
          <p:cNvCxnSpPr>
            <a:stCxn xmlns:a="http://schemas.openxmlformats.org/drawingml/2006/main" id="1021" idx="3"/>
            <a:endCxn xmlns:a="http://schemas.openxmlformats.org/drawingml/2006/main" id="1022" idx="1"/>
          </p:cNvCxnSpPr>
          <p:nvPr/>
        </p:nvCxnSpPr>
        <p:spPr>
          <a:xfrm xmlns:a="http://schemas.openxmlformats.org/drawingml/2006/main">
            <a:off x="2705100" y="2676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0C7E"/>
            </a:solidFill>
            <a:prstDash val="solid"/>
            <a:tailEnd type="arrow" w="sm" len="sm"/>
          </a:ln>
        </p:spPr>
      </p:cxn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rPr>
                <a:solidFill>
                  <a:schemeClr val="accent5"/>
                </a:solidFill>
              </a:rPr>
              <a:t>14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9" name="Архитектура решения">
            <a:extLst xmlns:a="http://schemas.openxmlformats.org/drawingml/2006/main">
              <a:ext uri="{FF2B5EF4-FFF2-40B4-BE49-F238E27FC236}">
                <a16:creationId xmlns:a16="http://schemas.microsoft.com/office/drawing/2014/main" id="{7078E946-ADE0-4F2C-BD6D-30AE60DA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 решения</a:t>
            </a:r>
          </a:p>
        </p:txBody>
      </p:sp>
      <p:sp>
        <p:nvSpPr>
          <p:cNvPr id="1002" name="Модульный монолит. Очередь заданий хранится в PostgreSQ">
            <a:extLst xmlns:a="http://schemas.openxmlformats.org/drawingml/2006/main">
              <a:ext uri="{FF2B5EF4-FFF2-40B4-BE49-F238E27FC236}">
                <a16:creationId xmlns:a16="http://schemas.microsoft.com/office/drawing/2014/main" id="{E9CFDD0A-DF4B-4212-A683-6DE4B0B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Модульный монолит на CPU. Данные и очередь — PostgreSQL. Kafka и Elasticsearch не требуются.</a:t>
            </a:r>
          </a:p>
        </p:txBody>
      </p:sp>
      <p:sp>
        <p:nvSpPr>
          <p:cNvPr id="1020" name="architecture-heading">
            <a:extLst xmlns:a="http://schemas.openxmlformats.org/drawingml/2006/main">
              <a:ext uri="{FF2B5EF4-FFF2-40B4-BE49-F238E27FC236}">
                <a16:creationId xmlns:a16="http://schemas.microsoft.com/office/drawing/2014/main" id="{9AD62F07-97B1-4E62-B9DF-F1FEB103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Работающие компоненты и границы доступа</a:t>
            </a:r>
          </a:p>
        </p:txBody>
      </p:sp>
      <p:sp>
        <p:nvSpPr>
          <p:cNvPr id="1021" name="react-client">
            <a:extLst xmlns:a="http://schemas.openxmlformats.org/drawingml/2006/main">
              <a:ext uri="{FF2B5EF4-FFF2-40B4-BE49-F238E27FC236}">
                <a16:creationId xmlns:a16="http://schemas.microsoft.com/office/drawing/2014/main" id="{BD26FBEA-1BA1-4FA4-817C-E2C0E898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1907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React</a:t>
            </a:r>
          </a:p>
          <a:p xmlns:a="http://schemas.openxmlformats.org/drawingml/2006/main">
            <a:pPr algn="ctr"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TypeScript</a:t>
            </a:r>
          </a:p>
        </p:txBody>
      </p:sp>
      <p:sp>
        <p:nvSpPr>
          <p:cNvPr id="1022" name="https-edge">
            <a:extLst xmlns:a="http://schemas.openxmlformats.org/drawingml/2006/main">
              <a:ext uri="{FF2B5EF4-FFF2-40B4-BE49-F238E27FC236}">
                <a16:creationId xmlns:a16="http://schemas.microsoft.com/office/drawing/2014/main" id="{49BBD03C-79F6-4CCD-B187-035A8DF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47900"/>
            <a:ext cx="2000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Nginx</a:t>
            </a:r>
          </a:p>
          <a:p xmlns:a="http://schemas.openxmlformats.org/drawingml/2006/main">
            <a:pPr algn="ctr">
              <a:def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HTTPS</a:t>
            </a:r>
          </a:p>
        </p:txBody>
      </p:sp>
      <p:sp>
        <p:nvSpPr>
          <p:cNvPr id="1023" name="application">
            <a:extLst xmlns:a="http://schemas.openxmlformats.org/drawingml/2006/main">
              <a:ext uri="{FF2B5EF4-FFF2-40B4-BE49-F238E27FC236}">
                <a16:creationId xmlns:a16="http://schemas.microsoft.com/office/drawing/2014/main" id="{C1131B6A-A60A-43C0-895E-73A933D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276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FastAPI</a:t>
            </a:r>
          </a:p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права и бизнес-логика</a:t>
            </a:r>
          </a:p>
        </p:txBody>
      </p:sp>
      <p:sp>
        <p:nvSpPr>
          <p:cNvPr id="1024" name="data-and-queue">
            <a:extLst xmlns:a="http://schemas.openxmlformats.org/drawingml/2006/main">
              <a:ext uri="{FF2B5EF4-FFF2-40B4-BE49-F238E27FC236}">
                <a16:creationId xmlns:a16="http://schemas.microsoft.com/office/drawing/2014/main" id="{AFAF5BB3-1C7B-4671-8AB5-067D23E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239077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PostgreSQL</a:t>
            </a:r>
          </a:p>
          <a:p xmlns:a="http://schemas.openxmlformats.org/drawingml/2006/main">
            <a:pPr algn="ctr">
              <a:def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данные и очередь</a:t>
            </a:r>
          </a:p>
        </p:txBody>
      </p:sp>
      <p:sp>
        <p:nvSpPr>
          <p:cNvPr id="1028" name="external-contracts">
            <a:extLst xmlns:a="http://schemas.openxmlformats.org/drawingml/2006/main">
              <a:ext uri="{FF2B5EF4-FFF2-40B4-BE49-F238E27FC236}">
                <a16:creationId xmlns:a16="http://schemas.microsoft.com/office/drawing/2014/main" id="{45B154BD-1492-4AEB-82C2-5F262D26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4762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ATS API и ФСП ID</a:t>
            </a:r>
          </a:p>
          <a:p xmlns:a="http://schemas.openxmlformats.org/drawingml/2006/main">
            <a:pPr algn="ctr">
              <a:def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тестовые контракты</a:t>
            </a:r>
          </a:p>
        </p:txBody>
      </p:sp>
      <p:sp>
        <p:nvSpPr>
          <p:cNvPr id="1029" name="transactional-mail">
            <a:extLst xmlns:a="http://schemas.openxmlformats.org/drawingml/2006/main">
              <a:ext uri="{FF2B5EF4-FFF2-40B4-BE49-F238E27FC236}">
                <a16:creationId xmlns:a16="http://schemas.microsoft.com/office/drawing/2014/main" id="{2A1BDDDD-00F2-4E19-BFBE-96E3629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2762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Внешний SMTP</a:t>
            </a:r>
          </a:p>
          <a:p xmlns:a="http://schemas.openxmlformats.org/drawingml/2006/main">
            <a:pPr algn="ctr">
              <a:def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TLS</a:t>
            </a:r>
          </a:p>
        </p:txBody>
      </p:sp>
      <p:sp>
        <p:nvSpPr>
          <p:cNvPr id="1030" name="worker-loop">
            <a:extLst xmlns:a="http://schemas.openxmlformats.org/drawingml/2006/main">
              <a:ext uri="{FF2B5EF4-FFF2-40B4-BE49-F238E27FC236}">
                <a16:creationId xmlns:a16="http://schemas.microsoft.com/office/drawing/2014/main" id="{2C95112D-52F8-46BE-B876-66C9A337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29100"/>
            <a:ext cx="239077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4EEF8"/>
          </a:solidFill>
          <a:ln xmlns:a="http://schemas.openxmlformats.org/drawingml/2006/main" w="14288">
            <a:solidFill>
              <a:srgbClr val="550C7E"/>
            </a:solidFill>
          </a:ln>
        </p:spPr>
        <p:txBody>
          <a:bodyPr xmlns:a="http://schemas.openxmlformats.org/drawingml/2006/main" lIns="95250" tIns="95250" rIns="95250" bIns="762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Worker</a:t>
            </a:r>
          </a:p>
          <a:p xmlns:a="http://schemas.openxmlformats.org/drawingml/2006/main">
            <a:pPr algn="ctr">
              <a:def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50C7E"/>
                </a:solidFill>
                <a:latin typeface="Montserrat"/>
                <a:ea typeface="Montserrat"/>
                <a:cs typeface="Montserrat"/>
              </a:rPr>
              <a:t>фоновые задачи</a:t>
            </a:r>
          </a:p>
        </p:txBody>
      </p:sp>
      <p:sp>
        <p:nvSpPr>
          <p:cNvPr id="1034" name="job-read-write">
            <a:extLst xmlns:a="http://schemas.openxmlformats.org/drawingml/2006/main">
              <a:ext uri="{FF2B5EF4-FFF2-40B4-BE49-F238E27FC236}">
                <a16:creationId xmlns:a16="http://schemas.microsoft.com/office/drawing/2014/main" id="{0B140FE7-A62E-46E6-AF1B-C3CEE92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52825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149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1496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14963"/>
                </a:solidFill>
                <a:latin typeface="Montserrat"/>
                <a:ea typeface="Montserrat"/>
                <a:cs typeface="Montserrat"/>
              </a:rPr>
              <a:t>Задания и</a:t>
            </a:r>
          </a:p>
          <a:p xmlns:a="http://schemas.openxmlformats.org/drawingml/2006/main">
            <a:pPr>
              <a:defRPr sz="1275" b="0">
                <a:solidFill>
                  <a:srgbClr val="51496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14963"/>
                </a:solidFill>
                <a:latin typeface="Montserrat"/>
                <a:ea typeface="Montserrat"/>
                <a:cs typeface="Montserrat"/>
              </a:rPr>
              <a:t>результаты</a:t>
            </a:r>
          </a:p>
        </p:txBody>
      </p:sp>
      <p:sp>
        <p:nvSpPr>
          <p:cNvPr id="1035" name="safety-boundary">
            <a:extLst xmlns:a="http://schemas.openxmlformats.org/drawingml/2006/main">
              <a:ext uri="{FF2B5EF4-FFF2-40B4-BE49-F238E27FC236}">
                <a16:creationId xmlns:a16="http://schemas.microsoft.com/office/drawing/2014/main" id="{4CC365F1-87D6-4C96-BA70-C9AF71B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222329"/>
                </a:solidFill>
                <a:latin typeface="Montserrat"/>
                <a:ea typeface="Montserrat"/>
                <a:cs typeface="Montserrat"/>
              </a:rPr>
              <a:t>Сессия и CSRF, права на объекты, адресные согласия.</a:t>
            </a:r>
          </a:p>
          <a:p xmlns:a="http://schemas.openxmlformats.org/drawingml/2006/main">
            <a:pPr>
              <a:defRPr sz="1650" b="0">
                <a:solidFill>
                  <a:srgbClr val="222329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222329"/>
                </a:solidFill>
                <a:latin typeface="Montserrat"/>
                <a:ea typeface="Montserrat"/>
                <a:cs typeface="Montserrat"/>
              </a:rPr>
              <a:t>OIDC + PKCE на отдельном стенде. Произвольный код не запускается.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ef099abb424f9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619125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rPr>
                <a:solidFill>
                  <a:schemeClr val="accent5"/>
                </a:solidFill>
              </a:rPr>
              <a:t>15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010" name="Проверка и следующий этап">
            <a:extLst xmlns:a="http://schemas.openxmlformats.org/drawingml/2006/main">
              <a:ext uri="{FF2B5EF4-FFF2-40B4-BE49-F238E27FC236}">
                <a16:creationId xmlns:a16="http://schemas.microsoft.com/office/drawing/2014/main" id="{5F01C2B1-9A25-4EAD-BEAC-0E95E352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91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на стенде</a:t>
            </a:r>
          </a:p>
        </p:txBody>
      </p:sp>
      <p:sp>
        <p:nvSpPr>
          <p:cNvPr id="1002" name="ФСП Карьера 0.15.0. Команда «Пермский звериный стиль», ">
            <a:extLst xmlns:a="http://schemas.openxmlformats.org/drawingml/2006/main">
              <a:ext uri="{FF2B5EF4-FFF2-40B4-BE49-F238E27FC236}">
                <a16:creationId xmlns:a16="http://schemas.microsoft.com/office/drawing/2014/main" id="{C9CC5E42-1E8C-455F-8924-BDB96AB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95468"/>
                </a:solidFill>
                <a:latin typeface="Montserrat"/>
                <a:ea typeface="Montserrat"/>
                <a:cs typeface="Montserrat"/>
              </a:rPr>
              <a:t>ФСП Карьера 0.16.0. Пермский звериный стиль. Административный доступ не публикуется.</a:t>
            </a:r>
          </a:p>
        </p:txBody>
      </p:sp>
      <p:sp>
        <p:nvSpPr>
          <p:cNvPr id="1003" name="pzs-fsp-career.duckdns.org">
            <a:extLst xmlns:a="http://schemas.openxmlformats.org/drawingml/2006/main">
              <a:ext uri="{FF2B5EF4-FFF2-40B4-BE49-F238E27FC236}">
                <a16:creationId xmlns:a16="http://schemas.microsoft.com/office/drawing/2014/main" id="{30268291-0339-4DF9-950A-0C9DDE5E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pzs-fsp-career.duckdns.org</a:t>
            </a:r>
          </a:p>
        </p:txBody>
      </p:sp>
      <p:sp>
        <p:nvSpPr>
          <p:cNvPr id="1004" name="Проверки">
            <a:extLst xmlns:a="http://schemas.openxmlformats.org/drawingml/2006/main">
              <a:ext uri="{FF2B5EF4-FFF2-40B4-BE49-F238E27FC236}">
                <a16:creationId xmlns:a16="http://schemas.microsoft.com/office/drawing/2014/main" id="{02CA821B-676E-4BCC-AE70-88CC27CB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Кандидат</a:t>
            </a:r>
          </a:p>
        </p:txBody>
      </p:sp>
      <p:sp>
        <p:nvSpPr>
          <p:cNvPr id="1005" name="API и права доступа&#10;Четыре ширины интерфейса&#10;Версии и с">
            <a:extLst xmlns:a="http://schemas.openxmlformats.org/drawingml/2006/main">
              <a:ext uri="{FF2B5EF4-FFF2-40B4-BE49-F238E27FC236}">
                <a16:creationId xmlns:a16="http://schemas.microsoft.com/office/drawing/2014/main" id="{549CB322-36E1-444F-8F4E-CCE3E4D2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5381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Логин: jury.backend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Пароль: JuryBackend!2026-FSP</a:t>
            </a:r>
          </a:p>
          <a:p xmlns:a="http://schemas.openxmlformats.org/drawingml/2006/main">
            <a:pPr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Паспорт и приглашения</a:t>
            </a:r>
          </a:p>
        </p:txBody>
      </p:sp>
      <p:sp>
        <p:nvSpPr>
          <p:cNvPr id="1006" name="Следующий этап">
            <a:extLst xmlns:a="http://schemas.openxmlformats.org/drawingml/2006/main">
              <a:ext uri="{FF2B5EF4-FFF2-40B4-BE49-F238E27FC236}">
                <a16:creationId xmlns:a16="http://schemas.microsoft.com/office/drawing/2014/main" id="{18EC8E4C-0605-4ABD-9393-333437B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Работодатель</a:t>
            </a:r>
          </a:p>
        </p:txBody>
      </p:sp>
      <p:sp>
        <p:nvSpPr>
          <p:cNvPr id="1007" name="Калибровка проверки на людях.&#10;Пилот с работодателями&#10;и ">
            <a:extLst xmlns:a="http://schemas.openxmlformats.org/drawingml/2006/main">
              <a:ext uri="{FF2B5EF4-FFF2-40B4-BE49-F238E27FC236}">
                <a16:creationId xmlns:a16="http://schemas.microsoft.com/office/drawing/2014/main" id="{63A3C771-ED1B-4B1D-9925-25CDF2A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51911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Логин: jury.employer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Пароль: JuryEmployer!2026-FSP</a:t>
            </a:r>
          </a:p>
          <a:p xmlns:a="http://schemas.openxmlformats.org/drawingml/2006/main">
            <a:pPr>
              <a:buNone/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 и приглашения</a:t>
            </a:r>
          </a:p>
        </p:txBody>
      </p:sp>
      <p:sp>
        <p:nvSpPr>
          <p:cNvPr id="1008" name="Георгий Покумин  @egorlemeilleur&#10;Иван Урбанович  @urbnz">
            <a:extLst xmlns:a="http://schemas.openxmlformats.org/drawingml/2006/main">
              <a:ext uri="{FF2B5EF4-FFF2-40B4-BE49-F238E27FC236}">
                <a16:creationId xmlns:a16="http://schemas.microsoft.com/office/drawing/2014/main" id="{1E50458A-DB38-475D-93B0-FD7E14DF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Проверочные записи синтетические.</a:t>
            </a:r>
          </a:p>
          <a:p xmlns:a="http://schemas.openxmlformats.org/drawingml/2006/main"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573 теста PostgreSQL, 288 API-сценариев, мобильные пути.</a:t>
            </a:r>
          </a:p>
        </p:txBody>
      </p:sp>
      <p:pic>
        <p:nvPicPr>
          <p:cNvPr id="1018" name="Рисунок 1017">
            <a:extLst xmlns:a="http://schemas.openxmlformats.org/drawingml/2006/main">
              <a:ext uri="{FF2B5EF4-FFF2-40B4-BE49-F238E27FC236}">
                <a16:creationId xmlns:a16="http://schemas.microsoft.com/office/drawing/2014/main" id="{5BFEF36E-B24F-486A-A768-44EC28484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d2efe50fa46e1"/>
          <a:stretch xmlns:a="http://schemas.openxmlformats.org/drawingml/2006/main"/>
        </p:blipFill>
        <p:spPr>
          <a:xfrm xmlns:a="http://schemas.openxmlformats.org/drawingml/2006/main">
            <a:off x="9525000" y="1285875"/>
            <a:ext cx="200025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2026-10-11T18:11:45.9110000Z</dcterms:created>
  <dcterms:modified xsi:type="dcterms:W3CDTF">2026-10-11T18:11:45.9110000Z</dcterms:modified>
</coreProperties>
</file>